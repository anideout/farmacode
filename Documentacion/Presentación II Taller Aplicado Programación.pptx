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hdcIqTFNEd1jKqBwrssmign4TS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43.png"/><Relationship Id="rId7" Type="http://schemas.openxmlformats.org/officeDocument/2006/relationships/image" Target="../media/image22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9" Type="http://schemas.openxmlformats.org/officeDocument/2006/relationships/image" Target="../media/image9.png"/><Relationship Id="rId5" Type="http://schemas.openxmlformats.org/officeDocument/2006/relationships/image" Target="../media/image29.png"/><Relationship Id="rId6" Type="http://schemas.openxmlformats.org/officeDocument/2006/relationships/image" Target="../media/image13.png"/><Relationship Id="rId7" Type="http://schemas.openxmlformats.org/officeDocument/2006/relationships/image" Target="../media/image21.png"/><Relationship Id="rId8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23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33.png"/><Relationship Id="rId11" Type="http://schemas.openxmlformats.org/officeDocument/2006/relationships/image" Target="../media/image9.png"/><Relationship Id="rId10" Type="http://schemas.openxmlformats.org/officeDocument/2006/relationships/image" Target="../media/image35.png"/><Relationship Id="rId12" Type="http://schemas.openxmlformats.org/officeDocument/2006/relationships/image" Target="../media/image27.png"/><Relationship Id="rId9" Type="http://schemas.openxmlformats.org/officeDocument/2006/relationships/image" Target="../media/image41.png"/><Relationship Id="rId5" Type="http://schemas.openxmlformats.org/officeDocument/2006/relationships/image" Target="../media/image38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Relationship Id="rId8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18.png"/><Relationship Id="rId7" Type="http://schemas.openxmlformats.org/officeDocument/2006/relationships/image" Target="../media/image37.png"/><Relationship Id="rId8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26.pn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32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.png"/><Relationship Id="rId5" Type="http://schemas.openxmlformats.org/officeDocument/2006/relationships/image" Target="../media/image40.png"/><Relationship Id="rId6" Type="http://schemas.openxmlformats.org/officeDocument/2006/relationships/image" Target="../media/image44.png"/><Relationship Id="rId7" Type="http://schemas.openxmlformats.org/officeDocument/2006/relationships/image" Target="../media/image36.png"/><Relationship Id="rId8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34.png"/><Relationship Id="rId6" Type="http://schemas.openxmlformats.org/officeDocument/2006/relationships/image" Target="../media/image31.png"/><Relationship Id="rId7" Type="http://schemas.openxmlformats.org/officeDocument/2006/relationships/image" Target="../media/image42.png"/><Relationship Id="rId8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3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835402" y="664269"/>
            <a:ext cx="460249" cy="575311"/>
          </a:xfrm>
          <a:custGeom>
            <a:rect b="b" l="l" r="r" t="t"/>
            <a:pathLst>
              <a:path extrusionOk="0" h="575311" w="460249">
                <a:moveTo>
                  <a:pt x="0" y="0"/>
                </a:moveTo>
                <a:lnTo>
                  <a:pt x="460248" y="0"/>
                </a:lnTo>
                <a:lnTo>
                  <a:pt x="460248" y="575311"/>
                </a:lnTo>
                <a:lnTo>
                  <a:pt x="0" y="575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570134" y="1074677"/>
            <a:ext cx="8183623" cy="8183623"/>
          </a:xfrm>
          <a:custGeom>
            <a:rect b="b" l="l" r="r" t="t"/>
            <a:pathLst>
              <a:path extrusionOk="0" h="8183623" w="8183623">
                <a:moveTo>
                  <a:pt x="0" y="0"/>
                </a:moveTo>
                <a:lnTo>
                  <a:pt x="8183623" y="0"/>
                </a:lnTo>
                <a:lnTo>
                  <a:pt x="8183623" y="8183623"/>
                </a:lnTo>
                <a:lnTo>
                  <a:pt x="0" y="8183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5722836" y="9258300"/>
            <a:ext cx="2565164" cy="932787"/>
          </a:xfrm>
          <a:custGeom>
            <a:rect b="b" l="l" r="r" t="t"/>
            <a:pathLst>
              <a:path extrusionOk="0" h="932787" w="2565164">
                <a:moveTo>
                  <a:pt x="0" y="0"/>
                </a:moveTo>
                <a:lnTo>
                  <a:pt x="2565164" y="0"/>
                </a:lnTo>
                <a:lnTo>
                  <a:pt x="2565164" y="932787"/>
                </a:lnTo>
                <a:lnTo>
                  <a:pt x="0" y="932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9125400" y="2455828"/>
            <a:ext cx="8133900" cy="2698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05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Presentación II: Taller Aplicado de Programación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8951400" y="6129185"/>
            <a:ext cx="207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Equipo:</a:t>
            </a:r>
            <a:endParaRPr sz="1800"/>
          </a:p>
        </p:txBody>
      </p:sp>
      <p:sp>
        <p:nvSpPr>
          <p:cNvPr id="89" name="Google Shape;89;p1"/>
          <p:cNvSpPr txBox="1"/>
          <p:nvPr/>
        </p:nvSpPr>
        <p:spPr>
          <a:xfrm>
            <a:off x="10301275" y="6129175"/>
            <a:ext cx="51663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AE8FF"/>
                </a:solidFill>
                <a:latin typeface="Arial"/>
                <a:ea typeface="Arial"/>
                <a:cs typeface="Arial"/>
                <a:sym typeface="Arial"/>
              </a:rPr>
              <a:t>Antonio Chihuailaf</a:t>
            </a:r>
            <a:endParaRPr sz="1800"/>
          </a:p>
          <a:p>
            <a:pPr indent="0" lvl="0" marL="0" marR="0" rtl="0" algn="l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AE8FF"/>
                </a:solidFill>
                <a:latin typeface="Arial"/>
                <a:ea typeface="Arial"/>
                <a:cs typeface="Arial"/>
                <a:sym typeface="Arial"/>
              </a:rPr>
              <a:t>Iván Carrasco</a:t>
            </a:r>
            <a:endParaRPr sz="1800"/>
          </a:p>
          <a:p>
            <a:pPr indent="0" lvl="0" marL="0" marR="0" rtl="0" algn="l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AE8FF"/>
                </a:solidFill>
                <a:latin typeface="Arial"/>
                <a:ea typeface="Arial"/>
                <a:cs typeface="Arial"/>
                <a:sym typeface="Arial"/>
              </a:rPr>
              <a:t>Matías Bórquez</a:t>
            </a:r>
            <a:endParaRPr sz="1800"/>
          </a:p>
          <a:p>
            <a:pPr indent="0" lvl="0" marL="0" marR="0" rtl="0" algn="l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AE8FF"/>
                </a:solidFill>
                <a:latin typeface="Arial"/>
                <a:ea typeface="Arial"/>
                <a:cs typeface="Arial"/>
                <a:sym typeface="Arial"/>
              </a:rPr>
              <a:t>Sergio Puebla</a:t>
            </a:r>
            <a:endParaRPr sz="1800"/>
          </a:p>
        </p:txBody>
      </p:sp>
      <p:sp>
        <p:nvSpPr>
          <p:cNvPr id="90" name="Google Shape;90;p1"/>
          <p:cNvSpPr txBox="1"/>
          <p:nvPr/>
        </p:nvSpPr>
        <p:spPr>
          <a:xfrm>
            <a:off x="8951400" y="8326605"/>
            <a:ext cx="20724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Docente:</a:t>
            </a:r>
            <a:endParaRPr sz="1800"/>
          </a:p>
          <a:p>
            <a:pPr indent="0" lvl="0" marL="0" marR="0" rtl="0" algn="l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03" u="none" cap="none" strike="noStrike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0301283" y="8326600"/>
            <a:ext cx="342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AE8FF"/>
                </a:solidFill>
              </a:rPr>
              <a:t>Felix Cifuentes</a:t>
            </a:r>
            <a:endParaRPr b="1" sz="1800"/>
          </a:p>
        </p:txBody>
      </p:sp>
      <p:sp>
        <p:nvSpPr>
          <p:cNvPr id="92" name="Google Shape;92;p1"/>
          <p:cNvSpPr txBox="1"/>
          <p:nvPr/>
        </p:nvSpPr>
        <p:spPr>
          <a:xfrm>
            <a:off x="1476035" y="579568"/>
            <a:ext cx="1661759" cy="382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FarmaCode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30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13309734" y="5021002"/>
            <a:ext cx="8183623" cy="8183623"/>
          </a:xfrm>
          <a:custGeom>
            <a:rect b="b" l="l" r="r" t="t"/>
            <a:pathLst>
              <a:path extrusionOk="0" h="8183623" w="8183623">
                <a:moveTo>
                  <a:pt x="0" y="0"/>
                </a:moveTo>
                <a:lnTo>
                  <a:pt x="8183623" y="0"/>
                </a:lnTo>
                <a:lnTo>
                  <a:pt x="8183623" y="8183623"/>
                </a:lnTo>
                <a:lnTo>
                  <a:pt x="0" y="8183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2"/>
          <p:cNvSpPr/>
          <p:nvPr/>
        </p:nvSpPr>
        <p:spPr>
          <a:xfrm>
            <a:off x="1629453" y="1997564"/>
            <a:ext cx="5922756" cy="7054988"/>
          </a:xfrm>
          <a:custGeom>
            <a:rect b="b" l="l" r="r" t="t"/>
            <a:pathLst>
              <a:path extrusionOk="0" h="1093002" w="917590">
                <a:moveTo>
                  <a:pt x="0" y="0"/>
                </a:moveTo>
                <a:lnTo>
                  <a:pt x="917590" y="0"/>
                </a:lnTo>
                <a:lnTo>
                  <a:pt x="917590" y="1093002"/>
                </a:lnTo>
                <a:lnTo>
                  <a:pt x="0" y="109300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901" l="0" r="0" t="-1901"/>
            </a:stretch>
          </a:blip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>
            <a:off x="835402" y="664269"/>
            <a:ext cx="460249" cy="575311"/>
          </a:xfrm>
          <a:custGeom>
            <a:rect b="b" l="l" r="r" t="t"/>
            <a:pathLst>
              <a:path extrusionOk="0" h="575311" w="460249">
                <a:moveTo>
                  <a:pt x="0" y="0"/>
                </a:moveTo>
                <a:lnTo>
                  <a:pt x="460248" y="0"/>
                </a:lnTo>
                <a:lnTo>
                  <a:pt x="460248" y="575311"/>
                </a:lnTo>
                <a:lnTo>
                  <a:pt x="0" y="575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0" name="Google Shape;100;p2"/>
          <p:cNvCxnSpPr/>
          <p:nvPr/>
        </p:nvCxnSpPr>
        <p:spPr>
          <a:xfrm>
            <a:off x="8609192" y="4624629"/>
            <a:ext cx="7767683" cy="0"/>
          </a:xfrm>
          <a:prstGeom prst="straightConnector1">
            <a:avLst/>
          </a:prstGeom>
          <a:noFill/>
          <a:ln cap="flat" cmpd="sng" w="38100">
            <a:solidFill>
              <a:srgbClr val="F4F6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"/>
          <p:cNvCxnSpPr/>
          <p:nvPr/>
        </p:nvCxnSpPr>
        <p:spPr>
          <a:xfrm>
            <a:off x="8609192" y="5544108"/>
            <a:ext cx="7767683" cy="0"/>
          </a:xfrm>
          <a:prstGeom prst="straightConnector1">
            <a:avLst/>
          </a:prstGeom>
          <a:noFill/>
          <a:ln cap="flat" cmpd="sng" w="38100">
            <a:solidFill>
              <a:srgbClr val="F4F6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"/>
          <p:cNvCxnSpPr/>
          <p:nvPr/>
        </p:nvCxnSpPr>
        <p:spPr>
          <a:xfrm>
            <a:off x="8609192" y="6463588"/>
            <a:ext cx="7767683" cy="0"/>
          </a:xfrm>
          <a:prstGeom prst="straightConnector1">
            <a:avLst/>
          </a:prstGeom>
          <a:noFill/>
          <a:ln cap="flat" cmpd="sng" w="38100">
            <a:solidFill>
              <a:srgbClr val="F4F6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"/>
          <p:cNvSpPr/>
          <p:nvPr/>
        </p:nvSpPr>
        <p:spPr>
          <a:xfrm>
            <a:off x="8681720" y="4862754"/>
            <a:ext cx="462280" cy="462280"/>
          </a:xfrm>
          <a:custGeom>
            <a:rect b="b" l="l" r="r" t="t"/>
            <a:pathLst>
              <a:path extrusionOk="0" h="462280" w="462280">
                <a:moveTo>
                  <a:pt x="0" y="0"/>
                </a:moveTo>
                <a:lnTo>
                  <a:pt x="462280" y="0"/>
                </a:lnTo>
                <a:lnTo>
                  <a:pt x="462280" y="462279"/>
                </a:lnTo>
                <a:lnTo>
                  <a:pt x="0" y="462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 txBox="1"/>
          <p:nvPr/>
        </p:nvSpPr>
        <p:spPr>
          <a:xfrm>
            <a:off x="9337830" y="3904864"/>
            <a:ext cx="7767683" cy="481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SPRINTS DE 2 SEMANAS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8609192" y="2200630"/>
            <a:ext cx="8133900" cy="710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11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Metodología de Desarrollo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9337830" y="4805914"/>
            <a:ext cx="7767683" cy="481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PRODUCT Y SPRINT BACKLOG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9337830" y="5706344"/>
            <a:ext cx="7767683" cy="481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DAILY STANDUP DIARIO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9337830" y="6606774"/>
            <a:ext cx="7767683" cy="481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RETROSPECTIVA CONTINUA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8681720" y="3962014"/>
            <a:ext cx="462280" cy="462280"/>
          </a:xfrm>
          <a:custGeom>
            <a:rect b="b" l="l" r="r" t="t"/>
            <a:pathLst>
              <a:path extrusionOk="0" h="462280" w="462280">
                <a:moveTo>
                  <a:pt x="0" y="0"/>
                </a:moveTo>
                <a:lnTo>
                  <a:pt x="462280" y="0"/>
                </a:lnTo>
                <a:lnTo>
                  <a:pt x="462280" y="462279"/>
                </a:lnTo>
                <a:lnTo>
                  <a:pt x="0" y="462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8681720" y="5772708"/>
            <a:ext cx="462280" cy="462280"/>
          </a:xfrm>
          <a:custGeom>
            <a:rect b="b" l="l" r="r" t="t"/>
            <a:pathLst>
              <a:path extrusionOk="0" h="462280" w="462280">
                <a:moveTo>
                  <a:pt x="0" y="0"/>
                </a:moveTo>
                <a:lnTo>
                  <a:pt x="462280" y="0"/>
                </a:lnTo>
                <a:lnTo>
                  <a:pt x="462280" y="462280"/>
                </a:lnTo>
                <a:lnTo>
                  <a:pt x="0" y="462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8681720" y="6682663"/>
            <a:ext cx="462280" cy="462280"/>
          </a:xfrm>
          <a:custGeom>
            <a:rect b="b" l="l" r="r" t="t"/>
            <a:pathLst>
              <a:path extrusionOk="0" h="462280" w="462280">
                <a:moveTo>
                  <a:pt x="0" y="0"/>
                </a:moveTo>
                <a:lnTo>
                  <a:pt x="462280" y="0"/>
                </a:lnTo>
                <a:lnTo>
                  <a:pt x="462280" y="462280"/>
                </a:lnTo>
                <a:lnTo>
                  <a:pt x="0" y="462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2"/>
          <p:cNvSpPr/>
          <p:nvPr/>
        </p:nvSpPr>
        <p:spPr>
          <a:xfrm>
            <a:off x="15722836" y="9258300"/>
            <a:ext cx="2565164" cy="932787"/>
          </a:xfrm>
          <a:custGeom>
            <a:rect b="b" l="l" r="r" t="t"/>
            <a:pathLst>
              <a:path extrusionOk="0" h="932787" w="2565164">
                <a:moveTo>
                  <a:pt x="0" y="0"/>
                </a:moveTo>
                <a:lnTo>
                  <a:pt x="2565164" y="0"/>
                </a:lnTo>
                <a:lnTo>
                  <a:pt x="2565164" y="932787"/>
                </a:lnTo>
                <a:lnTo>
                  <a:pt x="0" y="932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2"/>
          <p:cNvSpPr txBox="1"/>
          <p:nvPr/>
        </p:nvSpPr>
        <p:spPr>
          <a:xfrm>
            <a:off x="1476035" y="579568"/>
            <a:ext cx="1661759" cy="382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FarmaCode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3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12656309" y="-2518060"/>
            <a:ext cx="8183623" cy="8183623"/>
          </a:xfrm>
          <a:custGeom>
            <a:rect b="b" l="l" r="r" t="t"/>
            <a:pathLst>
              <a:path extrusionOk="0" h="8183623" w="8183623">
                <a:moveTo>
                  <a:pt x="0" y="0"/>
                </a:moveTo>
                <a:lnTo>
                  <a:pt x="8183623" y="0"/>
                </a:lnTo>
                <a:lnTo>
                  <a:pt x="8183623" y="8183623"/>
                </a:lnTo>
                <a:lnTo>
                  <a:pt x="0" y="8183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3"/>
          <p:cNvSpPr/>
          <p:nvPr/>
        </p:nvSpPr>
        <p:spPr>
          <a:xfrm>
            <a:off x="835402" y="664269"/>
            <a:ext cx="460249" cy="575311"/>
          </a:xfrm>
          <a:custGeom>
            <a:rect b="b" l="l" r="r" t="t"/>
            <a:pathLst>
              <a:path extrusionOk="0" h="575311" w="460249">
                <a:moveTo>
                  <a:pt x="0" y="0"/>
                </a:moveTo>
                <a:lnTo>
                  <a:pt x="460248" y="0"/>
                </a:lnTo>
                <a:lnTo>
                  <a:pt x="460248" y="575311"/>
                </a:lnTo>
                <a:lnTo>
                  <a:pt x="0" y="575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3"/>
          <p:cNvSpPr txBox="1"/>
          <p:nvPr/>
        </p:nvSpPr>
        <p:spPr>
          <a:xfrm>
            <a:off x="3901006" y="1661545"/>
            <a:ext cx="10485988" cy="739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21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Roles y Herramientas de Gestión</a:t>
            </a:r>
            <a:endParaRPr/>
          </a:p>
        </p:txBody>
      </p:sp>
      <p:grpSp>
        <p:nvGrpSpPr>
          <p:cNvPr id="121" name="Google Shape;121;p3"/>
          <p:cNvGrpSpPr/>
          <p:nvPr/>
        </p:nvGrpSpPr>
        <p:grpSpPr>
          <a:xfrm>
            <a:off x="1598384" y="4693786"/>
            <a:ext cx="3597452" cy="4332259"/>
            <a:chOff x="0" y="-66675"/>
            <a:chExt cx="1941410" cy="2337958"/>
          </a:xfrm>
        </p:grpSpPr>
        <p:sp>
          <p:nvSpPr>
            <p:cNvPr id="122" name="Google Shape;122;p3"/>
            <p:cNvSpPr/>
            <p:nvPr/>
          </p:nvSpPr>
          <p:spPr>
            <a:xfrm>
              <a:off x="0" y="0"/>
              <a:ext cx="1941410" cy="2271283"/>
            </a:xfrm>
            <a:custGeom>
              <a:rect b="b" l="l" r="r" t="t"/>
              <a:pathLst>
                <a:path extrusionOk="0" h="2271283" w="1941410">
                  <a:moveTo>
                    <a:pt x="73170" y="0"/>
                  </a:moveTo>
                  <a:lnTo>
                    <a:pt x="1868240" y="0"/>
                  </a:lnTo>
                  <a:cubicBezTo>
                    <a:pt x="1908651" y="0"/>
                    <a:pt x="1941410" y="32759"/>
                    <a:pt x="1941410" y="73170"/>
                  </a:cubicBezTo>
                  <a:lnTo>
                    <a:pt x="1941410" y="2198114"/>
                  </a:lnTo>
                  <a:cubicBezTo>
                    <a:pt x="1941410" y="2217519"/>
                    <a:pt x="1933701" y="2236130"/>
                    <a:pt x="1919979" y="2249852"/>
                  </a:cubicBezTo>
                  <a:cubicBezTo>
                    <a:pt x="1906257" y="2263574"/>
                    <a:pt x="1887646" y="2271283"/>
                    <a:pt x="1868240" y="2271283"/>
                  </a:cubicBezTo>
                  <a:lnTo>
                    <a:pt x="73170" y="2271283"/>
                  </a:lnTo>
                  <a:cubicBezTo>
                    <a:pt x="53764" y="2271283"/>
                    <a:pt x="35153" y="2263574"/>
                    <a:pt x="21431" y="2249852"/>
                  </a:cubicBezTo>
                  <a:cubicBezTo>
                    <a:pt x="7709" y="2236130"/>
                    <a:pt x="0" y="2217519"/>
                    <a:pt x="0" y="2198114"/>
                  </a:cubicBezTo>
                  <a:lnTo>
                    <a:pt x="0" y="73170"/>
                  </a:lnTo>
                  <a:cubicBezTo>
                    <a:pt x="0" y="53764"/>
                    <a:pt x="7709" y="35153"/>
                    <a:pt x="21431" y="21431"/>
                  </a:cubicBezTo>
                  <a:cubicBezTo>
                    <a:pt x="35153" y="7709"/>
                    <a:pt x="53764" y="0"/>
                    <a:pt x="73170" y="0"/>
                  </a:cubicBezTo>
                  <a:close/>
                </a:path>
              </a:pathLst>
            </a:custGeom>
            <a:solidFill>
              <a:srgbClr val="1222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 txBox="1"/>
            <p:nvPr/>
          </p:nvSpPr>
          <p:spPr>
            <a:xfrm>
              <a:off x="0" y="-66675"/>
              <a:ext cx="1941410" cy="2337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3"/>
          <p:cNvGrpSpPr/>
          <p:nvPr/>
        </p:nvGrpSpPr>
        <p:grpSpPr>
          <a:xfrm>
            <a:off x="2364641" y="3747254"/>
            <a:ext cx="2064937" cy="2064937"/>
            <a:chOff x="0" y="0"/>
            <a:chExt cx="812800" cy="812800"/>
          </a:xfrm>
        </p:grpSpPr>
        <p:sp>
          <p:nvSpPr>
            <p:cNvPr id="125" name="Google Shape;125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3"/>
          <p:cNvSpPr/>
          <p:nvPr/>
        </p:nvSpPr>
        <p:spPr>
          <a:xfrm>
            <a:off x="2848244" y="4109040"/>
            <a:ext cx="1248466" cy="1403977"/>
          </a:xfrm>
          <a:custGeom>
            <a:rect b="b" l="l" r="r" t="t"/>
            <a:pathLst>
              <a:path extrusionOk="0" h="1403977" w="1248466">
                <a:moveTo>
                  <a:pt x="0" y="0"/>
                </a:moveTo>
                <a:lnTo>
                  <a:pt x="1248466" y="0"/>
                </a:lnTo>
                <a:lnTo>
                  <a:pt x="1248466" y="1403977"/>
                </a:lnTo>
                <a:lnTo>
                  <a:pt x="0" y="1403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3"/>
          <p:cNvSpPr txBox="1"/>
          <p:nvPr/>
        </p:nvSpPr>
        <p:spPr>
          <a:xfrm>
            <a:off x="2112844" y="6880262"/>
            <a:ext cx="2573909" cy="116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Coordinación y facilitación del equipo Scrum.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1600370" y="6259867"/>
            <a:ext cx="3598858" cy="35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71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SCRUM MASTER</a:t>
            </a:r>
            <a:endParaRPr/>
          </a:p>
        </p:txBody>
      </p:sp>
      <p:grpSp>
        <p:nvGrpSpPr>
          <p:cNvPr id="130" name="Google Shape;130;p3"/>
          <p:cNvGrpSpPr/>
          <p:nvPr/>
        </p:nvGrpSpPr>
        <p:grpSpPr>
          <a:xfrm>
            <a:off x="5408778" y="4677732"/>
            <a:ext cx="3597452" cy="4332259"/>
            <a:chOff x="0" y="-66675"/>
            <a:chExt cx="1941410" cy="2337958"/>
          </a:xfrm>
        </p:grpSpPr>
        <p:sp>
          <p:nvSpPr>
            <p:cNvPr id="131" name="Google Shape;131;p3"/>
            <p:cNvSpPr/>
            <p:nvPr/>
          </p:nvSpPr>
          <p:spPr>
            <a:xfrm>
              <a:off x="0" y="0"/>
              <a:ext cx="1941410" cy="2271283"/>
            </a:xfrm>
            <a:custGeom>
              <a:rect b="b" l="l" r="r" t="t"/>
              <a:pathLst>
                <a:path extrusionOk="0" h="2271283" w="1941410">
                  <a:moveTo>
                    <a:pt x="73170" y="0"/>
                  </a:moveTo>
                  <a:lnTo>
                    <a:pt x="1868240" y="0"/>
                  </a:lnTo>
                  <a:cubicBezTo>
                    <a:pt x="1908651" y="0"/>
                    <a:pt x="1941410" y="32759"/>
                    <a:pt x="1941410" y="73170"/>
                  </a:cubicBezTo>
                  <a:lnTo>
                    <a:pt x="1941410" y="2198114"/>
                  </a:lnTo>
                  <a:cubicBezTo>
                    <a:pt x="1941410" y="2217519"/>
                    <a:pt x="1933701" y="2236130"/>
                    <a:pt x="1919979" y="2249852"/>
                  </a:cubicBezTo>
                  <a:cubicBezTo>
                    <a:pt x="1906257" y="2263574"/>
                    <a:pt x="1887646" y="2271283"/>
                    <a:pt x="1868240" y="2271283"/>
                  </a:cubicBezTo>
                  <a:lnTo>
                    <a:pt x="73170" y="2271283"/>
                  </a:lnTo>
                  <a:cubicBezTo>
                    <a:pt x="53764" y="2271283"/>
                    <a:pt x="35153" y="2263574"/>
                    <a:pt x="21431" y="2249852"/>
                  </a:cubicBezTo>
                  <a:cubicBezTo>
                    <a:pt x="7709" y="2236130"/>
                    <a:pt x="0" y="2217519"/>
                    <a:pt x="0" y="2198114"/>
                  </a:cubicBezTo>
                  <a:lnTo>
                    <a:pt x="0" y="73170"/>
                  </a:lnTo>
                  <a:cubicBezTo>
                    <a:pt x="0" y="53764"/>
                    <a:pt x="7709" y="35153"/>
                    <a:pt x="21431" y="21431"/>
                  </a:cubicBezTo>
                  <a:cubicBezTo>
                    <a:pt x="35153" y="7709"/>
                    <a:pt x="53764" y="0"/>
                    <a:pt x="73170" y="0"/>
                  </a:cubicBezTo>
                  <a:close/>
                </a:path>
              </a:pathLst>
            </a:custGeom>
            <a:solidFill>
              <a:srgbClr val="1222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 txBox="1"/>
            <p:nvPr/>
          </p:nvSpPr>
          <p:spPr>
            <a:xfrm>
              <a:off x="0" y="-66675"/>
              <a:ext cx="1941410" cy="2337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3"/>
          <p:cNvGrpSpPr/>
          <p:nvPr/>
        </p:nvGrpSpPr>
        <p:grpSpPr>
          <a:xfrm>
            <a:off x="6175035" y="3663903"/>
            <a:ext cx="2064937" cy="2064937"/>
            <a:chOff x="0" y="0"/>
            <a:chExt cx="812800" cy="812800"/>
          </a:xfrm>
        </p:grpSpPr>
        <p:sp>
          <p:nvSpPr>
            <p:cNvPr id="134" name="Google Shape;134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3"/>
          <p:cNvSpPr/>
          <p:nvPr/>
        </p:nvSpPr>
        <p:spPr>
          <a:xfrm>
            <a:off x="6468174" y="4119892"/>
            <a:ext cx="1492788" cy="1240790"/>
          </a:xfrm>
          <a:custGeom>
            <a:rect b="b" l="l" r="r" t="t"/>
            <a:pathLst>
              <a:path extrusionOk="0" h="1240790" w="1492788">
                <a:moveTo>
                  <a:pt x="0" y="0"/>
                </a:moveTo>
                <a:lnTo>
                  <a:pt x="1492789" y="0"/>
                </a:lnTo>
                <a:lnTo>
                  <a:pt x="1492789" y="1240790"/>
                </a:lnTo>
                <a:lnTo>
                  <a:pt x="0" y="12407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3"/>
          <p:cNvSpPr txBox="1"/>
          <p:nvPr/>
        </p:nvSpPr>
        <p:spPr>
          <a:xfrm>
            <a:off x="5918218" y="6880262"/>
            <a:ext cx="2578571" cy="116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Desarrollo de lógica de negocio y API REST.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5938785" y="6259867"/>
            <a:ext cx="2537437" cy="300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2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BACKEND DEVELOPER</a:t>
            </a:r>
            <a:endParaRPr/>
          </a:p>
        </p:txBody>
      </p:sp>
      <p:grpSp>
        <p:nvGrpSpPr>
          <p:cNvPr id="139" name="Google Shape;139;p3"/>
          <p:cNvGrpSpPr/>
          <p:nvPr/>
        </p:nvGrpSpPr>
        <p:grpSpPr>
          <a:xfrm>
            <a:off x="9219172" y="4677732"/>
            <a:ext cx="3597452" cy="4332259"/>
            <a:chOff x="0" y="-66675"/>
            <a:chExt cx="1941410" cy="2337958"/>
          </a:xfrm>
        </p:grpSpPr>
        <p:sp>
          <p:nvSpPr>
            <p:cNvPr id="140" name="Google Shape;140;p3"/>
            <p:cNvSpPr/>
            <p:nvPr/>
          </p:nvSpPr>
          <p:spPr>
            <a:xfrm>
              <a:off x="0" y="0"/>
              <a:ext cx="1941410" cy="2271283"/>
            </a:xfrm>
            <a:custGeom>
              <a:rect b="b" l="l" r="r" t="t"/>
              <a:pathLst>
                <a:path extrusionOk="0" h="2271283" w="1941410">
                  <a:moveTo>
                    <a:pt x="73170" y="0"/>
                  </a:moveTo>
                  <a:lnTo>
                    <a:pt x="1868240" y="0"/>
                  </a:lnTo>
                  <a:cubicBezTo>
                    <a:pt x="1908651" y="0"/>
                    <a:pt x="1941410" y="32759"/>
                    <a:pt x="1941410" y="73170"/>
                  </a:cubicBezTo>
                  <a:lnTo>
                    <a:pt x="1941410" y="2198114"/>
                  </a:lnTo>
                  <a:cubicBezTo>
                    <a:pt x="1941410" y="2217519"/>
                    <a:pt x="1933701" y="2236130"/>
                    <a:pt x="1919979" y="2249852"/>
                  </a:cubicBezTo>
                  <a:cubicBezTo>
                    <a:pt x="1906257" y="2263574"/>
                    <a:pt x="1887646" y="2271283"/>
                    <a:pt x="1868240" y="2271283"/>
                  </a:cubicBezTo>
                  <a:lnTo>
                    <a:pt x="73170" y="2271283"/>
                  </a:lnTo>
                  <a:cubicBezTo>
                    <a:pt x="53764" y="2271283"/>
                    <a:pt x="35153" y="2263574"/>
                    <a:pt x="21431" y="2249852"/>
                  </a:cubicBezTo>
                  <a:cubicBezTo>
                    <a:pt x="7709" y="2236130"/>
                    <a:pt x="0" y="2217519"/>
                    <a:pt x="0" y="2198114"/>
                  </a:cubicBezTo>
                  <a:lnTo>
                    <a:pt x="0" y="73170"/>
                  </a:lnTo>
                  <a:cubicBezTo>
                    <a:pt x="0" y="53764"/>
                    <a:pt x="7709" y="35153"/>
                    <a:pt x="21431" y="21431"/>
                  </a:cubicBezTo>
                  <a:cubicBezTo>
                    <a:pt x="35153" y="7709"/>
                    <a:pt x="53764" y="0"/>
                    <a:pt x="73170" y="0"/>
                  </a:cubicBezTo>
                  <a:close/>
                </a:path>
              </a:pathLst>
            </a:custGeom>
            <a:solidFill>
              <a:srgbClr val="1222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 txBox="1"/>
            <p:nvPr/>
          </p:nvSpPr>
          <p:spPr>
            <a:xfrm>
              <a:off x="0" y="-66675"/>
              <a:ext cx="1941410" cy="2337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3"/>
          <p:cNvGrpSpPr/>
          <p:nvPr/>
        </p:nvGrpSpPr>
        <p:grpSpPr>
          <a:xfrm>
            <a:off x="9985787" y="3747254"/>
            <a:ext cx="2064937" cy="2064937"/>
            <a:chOff x="0" y="0"/>
            <a:chExt cx="812800" cy="812800"/>
          </a:xfrm>
        </p:grpSpPr>
        <p:sp>
          <p:nvSpPr>
            <p:cNvPr id="143" name="Google Shape;143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3"/>
          <p:cNvSpPr/>
          <p:nvPr/>
        </p:nvSpPr>
        <p:spPr>
          <a:xfrm>
            <a:off x="10376487" y="4079910"/>
            <a:ext cx="1215401" cy="1441956"/>
          </a:xfrm>
          <a:custGeom>
            <a:rect b="b" l="l" r="r" t="t"/>
            <a:pathLst>
              <a:path extrusionOk="0" h="1441956" w="1215401">
                <a:moveTo>
                  <a:pt x="0" y="0"/>
                </a:moveTo>
                <a:lnTo>
                  <a:pt x="1215401" y="0"/>
                </a:lnTo>
                <a:lnTo>
                  <a:pt x="1215401" y="1441956"/>
                </a:lnTo>
                <a:lnTo>
                  <a:pt x="0" y="14419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3"/>
          <p:cNvSpPr txBox="1"/>
          <p:nvPr/>
        </p:nvSpPr>
        <p:spPr>
          <a:xfrm>
            <a:off x="9702539" y="6880262"/>
            <a:ext cx="2631435" cy="116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Desarrollo en Kotlin, Jetpack Compose y OCR.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9219888" y="6259867"/>
            <a:ext cx="3596735" cy="35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71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ANDROID DEVELOPER</a:t>
            </a:r>
            <a:endParaRPr/>
          </a:p>
        </p:txBody>
      </p:sp>
      <p:grpSp>
        <p:nvGrpSpPr>
          <p:cNvPr id="148" name="Google Shape;148;p3"/>
          <p:cNvGrpSpPr/>
          <p:nvPr/>
        </p:nvGrpSpPr>
        <p:grpSpPr>
          <a:xfrm>
            <a:off x="13029566" y="4677732"/>
            <a:ext cx="3597452" cy="4332259"/>
            <a:chOff x="0" y="-66675"/>
            <a:chExt cx="1941410" cy="2337958"/>
          </a:xfrm>
        </p:grpSpPr>
        <p:sp>
          <p:nvSpPr>
            <p:cNvPr id="149" name="Google Shape;149;p3"/>
            <p:cNvSpPr/>
            <p:nvPr/>
          </p:nvSpPr>
          <p:spPr>
            <a:xfrm>
              <a:off x="0" y="0"/>
              <a:ext cx="1941410" cy="2271283"/>
            </a:xfrm>
            <a:custGeom>
              <a:rect b="b" l="l" r="r" t="t"/>
              <a:pathLst>
                <a:path extrusionOk="0" h="2271283" w="1941410">
                  <a:moveTo>
                    <a:pt x="73170" y="0"/>
                  </a:moveTo>
                  <a:lnTo>
                    <a:pt x="1868240" y="0"/>
                  </a:lnTo>
                  <a:cubicBezTo>
                    <a:pt x="1908651" y="0"/>
                    <a:pt x="1941410" y="32759"/>
                    <a:pt x="1941410" y="73170"/>
                  </a:cubicBezTo>
                  <a:lnTo>
                    <a:pt x="1941410" y="2198114"/>
                  </a:lnTo>
                  <a:cubicBezTo>
                    <a:pt x="1941410" y="2217519"/>
                    <a:pt x="1933701" y="2236130"/>
                    <a:pt x="1919979" y="2249852"/>
                  </a:cubicBezTo>
                  <a:cubicBezTo>
                    <a:pt x="1906257" y="2263574"/>
                    <a:pt x="1887646" y="2271283"/>
                    <a:pt x="1868240" y="2271283"/>
                  </a:cubicBezTo>
                  <a:lnTo>
                    <a:pt x="73170" y="2271283"/>
                  </a:lnTo>
                  <a:cubicBezTo>
                    <a:pt x="53764" y="2271283"/>
                    <a:pt x="35153" y="2263574"/>
                    <a:pt x="21431" y="2249852"/>
                  </a:cubicBezTo>
                  <a:cubicBezTo>
                    <a:pt x="7709" y="2236130"/>
                    <a:pt x="0" y="2217519"/>
                    <a:pt x="0" y="2198114"/>
                  </a:cubicBezTo>
                  <a:lnTo>
                    <a:pt x="0" y="73170"/>
                  </a:lnTo>
                  <a:cubicBezTo>
                    <a:pt x="0" y="53764"/>
                    <a:pt x="7709" y="35153"/>
                    <a:pt x="21431" y="21431"/>
                  </a:cubicBezTo>
                  <a:cubicBezTo>
                    <a:pt x="35153" y="7709"/>
                    <a:pt x="53764" y="0"/>
                    <a:pt x="73170" y="0"/>
                  </a:cubicBezTo>
                  <a:close/>
                </a:path>
              </a:pathLst>
            </a:custGeom>
            <a:solidFill>
              <a:srgbClr val="1222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 txBox="1"/>
            <p:nvPr/>
          </p:nvSpPr>
          <p:spPr>
            <a:xfrm>
              <a:off x="0" y="-66675"/>
              <a:ext cx="1941410" cy="2337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3"/>
          <p:cNvGrpSpPr/>
          <p:nvPr/>
        </p:nvGrpSpPr>
        <p:grpSpPr>
          <a:xfrm>
            <a:off x="13796540" y="3663903"/>
            <a:ext cx="2064937" cy="2064937"/>
            <a:chOff x="0" y="0"/>
            <a:chExt cx="812800" cy="812800"/>
          </a:xfrm>
        </p:grpSpPr>
        <p:sp>
          <p:nvSpPr>
            <p:cNvPr id="152" name="Google Shape;152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3"/>
          <p:cNvSpPr/>
          <p:nvPr/>
        </p:nvSpPr>
        <p:spPr>
          <a:xfrm>
            <a:off x="14055634" y="3978426"/>
            <a:ext cx="1483601" cy="1450386"/>
          </a:xfrm>
          <a:custGeom>
            <a:rect b="b" l="l" r="r" t="t"/>
            <a:pathLst>
              <a:path extrusionOk="0" h="1450386" w="1483601">
                <a:moveTo>
                  <a:pt x="0" y="0"/>
                </a:moveTo>
                <a:lnTo>
                  <a:pt x="1483600" y="0"/>
                </a:lnTo>
                <a:lnTo>
                  <a:pt x="1483600" y="1450385"/>
                </a:lnTo>
                <a:lnTo>
                  <a:pt x="0" y="1450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3"/>
          <p:cNvSpPr txBox="1"/>
          <p:nvPr/>
        </p:nvSpPr>
        <p:spPr>
          <a:xfrm>
            <a:off x="13561273" y="6880262"/>
            <a:ext cx="2526644" cy="1163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Pruebas, calidad y documentación técnica.</a:t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13208189" y="6259867"/>
            <a:ext cx="3232811" cy="356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71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QA/FRONTEND</a:t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15722836" y="9258300"/>
            <a:ext cx="2565164" cy="932787"/>
          </a:xfrm>
          <a:custGeom>
            <a:rect b="b" l="l" r="r" t="t"/>
            <a:pathLst>
              <a:path extrusionOk="0" h="932787" w="2565164">
                <a:moveTo>
                  <a:pt x="0" y="0"/>
                </a:moveTo>
                <a:lnTo>
                  <a:pt x="2565164" y="0"/>
                </a:lnTo>
                <a:lnTo>
                  <a:pt x="2565164" y="932787"/>
                </a:lnTo>
                <a:lnTo>
                  <a:pt x="0" y="932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3"/>
          <p:cNvSpPr txBox="1"/>
          <p:nvPr/>
        </p:nvSpPr>
        <p:spPr>
          <a:xfrm>
            <a:off x="1476035" y="579568"/>
            <a:ext cx="1661759" cy="382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FarmaCode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3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/>
          <p:nvPr/>
        </p:nvSpPr>
        <p:spPr>
          <a:xfrm>
            <a:off x="-3696466" y="1561927"/>
            <a:ext cx="8183623" cy="8183623"/>
          </a:xfrm>
          <a:custGeom>
            <a:rect b="b" l="l" r="r" t="t"/>
            <a:pathLst>
              <a:path extrusionOk="0" h="8183623" w="8183623">
                <a:moveTo>
                  <a:pt x="0" y="0"/>
                </a:moveTo>
                <a:lnTo>
                  <a:pt x="8183623" y="0"/>
                </a:lnTo>
                <a:lnTo>
                  <a:pt x="8183623" y="8183623"/>
                </a:lnTo>
                <a:lnTo>
                  <a:pt x="0" y="8183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4"/>
          <p:cNvSpPr/>
          <p:nvPr/>
        </p:nvSpPr>
        <p:spPr>
          <a:xfrm>
            <a:off x="13585334" y="1561927"/>
            <a:ext cx="8183623" cy="8183623"/>
          </a:xfrm>
          <a:custGeom>
            <a:rect b="b" l="l" r="r" t="t"/>
            <a:pathLst>
              <a:path extrusionOk="0" h="8183623" w="8183623">
                <a:moveTo>
                  <a:pt x="0" y="0"/>
                </a:moveTo>
                <a:lnTo>
                  <a:pt x="8183623" y="0"/>
                </a:lnTo>
                <a:lnTo>
                  <a:pt x="8183623" y="8183623"/>
                </a:lnTo>
                <a:lnTo>
                  <a:pt x="0" y="8183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4"/>
          <p:cNvSpPr/>
          <p:nvPr/>
        </p:nvSpPr>
        <p:spPr>
          <a:xfrm>
            <a:off x="835402" y="664269"/>
            <a:ext cx="460249" cy="575311"/>
          </a:xfrm>
          <a:custGeom>
            <a:rect b="b" l="l" r="r" t="t"/>
            <a:pathLst>
              <a:path extrusionOk="0" h="575311" w="460249">
                <a:moveTo>
                  <a:pt x="0" y="0"/>
                </a:moveTo>
                <a:lnTo>
                  <a:pt x="460248" y="0"/>
                </a:lnTo>
                <a:lnTo>
                  <a:pt x="460248" y="575311"/>
                </a:lnTo>
                <a:lnTo>
                  <a:pt x="0" y="575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6" name="Google Shape;166;p4"/>
          <p:cNvGrpSpPr/>
          <p:nvPr/>
        </p:nvGrpSpPr>
        <p:grpSpPr>
          <a:xfrm>
            <a:off x="2995874" y="3801183"/>
            <a:ext cx="2920812" cy="3201974"/>
            <a:chOff x="0" y="-66675"/>
            <a:chExt cx="1114369" cy="1221640"/>
          </a:xfrm>
        </p:grpSpPr>
        <p:sp>
          <p:nvSpPr>
            <p:cNvPr id="167" name="Google Shape;167;p4"/>
            <p:cNvSpPr/>
            <p:nvPr/>
          </p:nvSpPr>
          <p:spPr>
            <a:xfrm>
              <a:off x="0" y="0"/>
              <a:ext cx="1114369" cy="1154965"/>
            </a:xfrm>
            <a:custGeom>
              <a:rect b="b" l="l" r="r" t="t"/>
              <a:pathLst>
                <a:path extrusionOk="0" h="1154965" w="1114369">
                  <a:moveTo>
                    <a:pt x="90121" y="0"/>
                  </a:moveTo>
                  <a:lnTo>
                    <a:pt x="1024249" y="0"/>
                  </a:lnTo>
                  <a:cubicBezTo>
                    <a:pt x="1048150" y="0"/>
                    <a:pt x="1071073" y="9495"/>
                    <a:pt x="1087974" y="26396"/>
                  </a:cubicBezTo>
                  <a:cubicBezTo>
                    <a:pt x="1104875" y="43297"/>
                    <a:pt x="1114369" y="66219"/>
                    <a:pt x="1114369" y="90121"/>
                  </a:cubicBezTo>
                  <a:lnTo>
                    <a:pt x="1114369" y="1064845"/>
                  </a:lnTo>
                  <a:cubicBezTo>
                    <a:pt x="1114369" y="1088746"/>
                    <a:pt x="1104875" y="1111669"/>
                    <a:pt x="1087974" y="1128570"/>
                  </a:cubicBezTo>
                  <a:cubicBezTo>
                    <a:pt x="1071073" y="1145470"/>
                    <a:pt x="1048150" y="1154965"/>
                    <a:pt x="1024249" y="1154965"/>
                  </a:cubicBezTo>
                  <a:lnTo>
                    <a:pt x="90121" y="1154965"/>
                  </a:lnTo>
                  <a:cubicBezTo>
                    <a:pt x="66219" y="1154965"/>
                    <a:pt x="43297" y="1145470"/>
                    <a:pt x="26396" y="1128570"/>
                  </a:cubicBezTo>
                  <a:cubicBezTo>
                    <a:pt x="9495" y="1111669"/>
                    <a:pt x="0" y="1088746"/>
                    <a:pt x="0" y="1064845"/>
                  </a:cubicBezTo>
                  <a:lnTo>
                    <a:pt x="0" y="90121"/>
                  </a:lnTo>
                  <a:cubicBezTo>
                    <a:pt x="0" y="66219"/>
                    <a:pt x="9495" y="43297"/>
                    <a:pt x="26396" y="26396"/>
                  </a:cubicBezTo>
                  <a:cubicBezTo>
                    <a:pt x="43297" y="9495"/>
                    <a:pt x="66219" y="0"/>
                    <a:pt x="90121" y="0"/>
                  </a:cubicBez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4"/>
            <p:cNvSpPr txBox="1"/>
            <p:nvPr/>
          </p:nvSpPr>
          <p:spPr>
            <a:xfrm>
              <a:off x="0" y="-66675"/>
              <a:ext cx="1114369" cy="1221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4"/>
          <p:cNvGrpSpPr/>
          <p:nvPr/>
        </p:nvGrpSpPr>
        <p:grpSpPr>
          <a:xfrm>
            <a:off x="7575831" y="3801183"/>
            <a:ext cx="2920812" cy="3201974"/>
            <a:chOff x="0" y="-66675"/>
            <a:chExt cx="1114369" cy="1221640"/>
          </a:xfrm>
        </p:grpSpPr>
        <p:sp>
          <p:nvSpPr>
            <p:cNvPr id="170" name="Google Shape;170;p4"/>
            <p:cNvSpPr/>
            <p:nvPr/>
          </p:nvSpPr>
          <p:spPr>
            <a:xfrm>
              <a:off x="0" y="0"/>
              <a:ext cx="1114369" cy="1154965"/>
            </a:xfrm>
            <a:custGeom>
              <a:rect b="b" l="l" r="r" t="t"/>
              <a:pathLst>
                <a:path extrusionOk="0" h="1154965" w="1114369">
                  <a:moveTo>
                    <a:pt x="90121" y="0"/>
                  </a:moveTo>
                  <a:lnTo>
                    <a:pt x="1024249" y="0"/>
                  </a:lnTo>
                  <a:cubicBezTo>
                    <a:pt x="1048150" y="0"/>
                    <a:pt x="1071073" y="9495"/>
                    <a:pt x="1087974" y="26396"/>
                  </a:cubicBezTo>
                  <a:cubicBezTo>
                    <a:pt x="1104875" y="43297"/>
                    <a:pt x="1114369" y="66219"/>
                    <a:pt x="1114369" y="90121"/>
                  </a:cubicBezTo>
                  <a:lnTo>
                    <a:pt x="1114369" y="1064845"/>
                  </a:lnTo>
                  <a:cubicBezTo>
                    <a:pt x="1114369" y="1088746"/>
                    <a:pt x="1104875" y="1111669"/>
                    <a:pt x="1087974" y="1128570"/>
                  </a:cubicBezTo>
                  <a:cubicBezTo>
                    <a:pt x="1071073" y="1145470"/>
                    <a:pt x="1048150" y="1154965"/>
                    <a:pt x="1024249" y="1154965"/>
                  </a:cubicBezTo>
                  <a:lnTo>
                    <a:pt x="90121" y="1154965"/>
                  </a:lnTo>
                  <a:cubicBezTo>
                    <a:pt x="66219" y="1154965"/>
                    <a:pt x="43297" y="1145470"/>
                    <a:pt x="26396" y="1128570"/>
                  </a:cubicBezTo>
                  <a:cubicBezTo>
                    <a:pt x="9495" y="1111669"/>
                    <a:pt x="0" y="1088746"/>
                    <a:pt x="0" y="1064845"/>
                  </a:cubicBezTo>
                  <a:lnTo>
                    <a:pt x="0" y="90121"/>
                  </a:lnTo>
                  <a:cubicBezTo>
                    <a:pt x="0" y="66219"/>
                    <a:pt x="9495" y="43297"/>
                    <a:pt x="26396" y="26396"/>
                  </a:cubicBezTo>
                  <a:cubicBezTo>
                    <a:pt x="43297" y="9495"/>
                    <a:pt x="66219" y="0"/>
                    <a:pt x="90121" y="0"/>
                  </a:cubicBez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"/>
            <p:cNvSpPr txBox="1"/>
            <p:nvPr/>
          </p:nvSpPr>
          <p:spPr>
            <a:xfrm>
              <a:off x="0" y="-66675"/>
              <a:ext cx="1114369" cy="1221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72;p4"/>
          <p:cNvGrpSpPr/>
          <p:nvPr/>
        </p:nvGrpSpPr>
        <p:grpSpPr>
          <a:xfrm>
            <a:off x="12359415" y="3801183"/>
            <a:ext cx="2920812" cy="3201974"/>
            <a:chOff x="0" y="-66675"/>
            <a:chExt cx="1114369" cy="1221640"/>
          </a:xfrm>
        </p:grpSpPr>
        <p:sp>
          <p:nvSpPr>
            <p:cNvPr id="173" name="Google Shape;173;p4"/>
            <p:cNvSpPr/>
            <p:nvPr/>
          </p:nvSpPr>
          <p:spPr>
            <a:xfrm>
              <a:off x="0" y="0"/>
              <a:ext cx="1114369" cy="1154965"/>
            </a:xfrm>
            <a:custGeom>
              <a:rect b="b" l="l" r="r" t="t"/>
              <a:pathLst>
                <a:path extrusionOk="0" h="1154965" w="1114369">
                  <a:moveTo>
                    <a:pt x="90121" y="0"/>
                  </a:moveTo>
                  <a:lnTo>
                    <a:pt x="1024249" y="0"/>
                  </a:lnTo>
                  <a:cubicBezTo>
                    <a:pt x="1048150" y="0"/>
                    <a:pt x="1071073" y="9495"/>
                    <a:pt x="1087974" y="26396"/>
                  </a:cubicBezTo>
                  <a:cubicBezTo>
                    <a:pt x="1104875" y="43297"/>
                    <a:pt x="1114369" y="66219"/>
                    <a:pt x="1114369" y="90121"/>
                  </a:cubicBezTo>
                  <a:lnTo>
                    <a:pt x="1114369" y="1064845"/>
                  </a:lnTo>
                  <a:cubicBezTo>
                    <a:pt x="1114369" y="1088746"/>
                    <a:pt x="1104875" y="1111669"/>
                    <a:pt x="1087974" y="1128570"/>
                  </a:cubicBezTo>
                  <a:cubicBezTo>
                    <a:pt x="1071073" y="1145470"/>
                    <a:pt x="1048150" y="1154965"/>
                    <a:pt x="1024249" y="1154965"/>
                  </a:cubicBezTo>
                  <a:lnTo>
                    <a:pt x="90121" y="1154965"/>
                  </a:lnTo>
                  <a:cubicBezTo>
                    <a:pt x="66219" y="1154965"/>
                    <a:pt x="43297" y="1145470"/>
                    <a:pt x="26396" y="1128570"/>
                  </a:cubicBezTo>
                  <a:cubicBezTo>
                    <a:pt x="9495" y="1111669"/>
                    <a:pt x="0" y="1088746"/>
                    <a:pt x="0" y="1064845"/>
                  </a:cubicBezTo>
                  <a:lnTo>
                    <a:pt x="0" y="90121"/>
                  </a:lnTo>
                  <a:cubicBezTo>
                    <a:pt x="0" y="66219"/>
                    <a:pt x="9495" y="43297"/>
                    <a:pt x="26396" y="26396"/>
                  </a:cubicBezTo>
                  <a:cubicBezTo>
                    <a:pt x="43297" y="9495"/>
                    <a:pt x="66219" y="0"/>
                    <a:pt x="90121" y="0"/>
                  </a:cubicBezTo>
                  <a:close/>
                </a:path>
              </a:pathLst>
            </a:custGeom>
            <a:solidFill>
              <a:srgbClr val="5C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 txBox="1"/>
            <p:nvPr/>
          </p:nvSpPr>
          <p:spPr>
            <a:xfrm>
              <a:off x="0" y="-66675"/>
              <a:ext cx="1114369" cy="1221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4"/>
          <p:cNvSpPr/>
          <p:nvPr/>
        </p:nvSpPr>
        <p:spPr>
          <a:xfrm>
            <a:off x="3742098" y="4506203"/>
            <a:ext cx="1505982" cy="1368417"/>
          </a:xfrm>
          <a:custGeom>
            <a:rect b="b" l="l" r="r" t="t"/>
            <a:pathLst>
              <a:path extrusionOk="0" h="1368417" w="1505982">
                <a:moveTo>
                  <a:pt x="0" y="0"/>
                </a:moveTo>
                <a:lnTo>
                  <a:pt x="1505983" y="0"/>
                </a:lnTo>
                <a:lnTo>
                  <a:pt x="1505983" y="1368417"/>
                </a:lnTo>
                <a:lnTo>
                  <a:pt x="0" y="13684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4"/>
          <p:cNvSpPr/>
          <p:nvPr/>
        </p:nvSpPr>
        <p:spPr>
          <a:xfrm>
            <a:off x="8437096" y="4566576"/>
            <a:ext cx="1151350" cy="1151350"/>
          </a:xfrm>
          <a:custGeom>
            <a:rect b="b" l="l" r="r" t="t"/>
            <a:pathLst>
              <a:path extrusionOk="0" h="1151350" w="1151350">
                <a:moveTo>
                  <a:pt x="0" y="0"/>
                </a:moveTo>
                <a:lnTo>
                  <a:pt x="1151351" y="0"/>
                </a:lnTo>
                <a:lnTo>
                  <a:pt x="1151351" y="1151351"/>
                </a:lnTo>
                <a:lnTo>
                  <a:pt x="0" y="11513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4"/>
          <p:cNvSpPr txBox="1"/>
          <p:nvPr/>
        </p:nvSpPr>
        <p:spPr>
          <a:xfrm>
            <a:off x="2538525" y="2040302"/>
            <a:ext cx="13210950" cy="788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96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Patrones de Diseño en Android (MVVM)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3270295" y="6019067"/>
            <a:ext cx="2398271" cy="248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2" u="none" cap="none" strike="noStrike">
                <a:solidFill>
                  <a:srgbClr val="12229D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7850253" y="6019067"/>
            <a:ext cx="2398271" cy="248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2" u="none" cap="none" strike="noStrike">
                <a:solidFill>
                  <a:srgbClr val="12229D"/>
                </a:solidFill>
                <a:latin typeface="Arial"/>
                <a:ea typeface="Arial"/>
                <a:cs typeface="Arial"/>
                <a:sym typeface="Arial"/>
              </a:rPr>
              <a:t>ViewModel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12860883" y="6019067"/>
            <a:ext cx="1944178" cy="248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2" u="none" cap="none" strike="noStrike">
                <a:solidFill>
                  <a:srgbClr val="12229D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2273952" y="7527636"/>
            <a:ext cx="4243508" cy="551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Entidades y repositorios que gestionan datos y lógica de acceso.</a:t>
            </a:r>
            <a:endParaRPr/>
          </a:p>
        </p:txBody>
      </p:sp>
      <p:sp>
        <p:nvSpPr>
          <p:cNvPr id="182" name="Google Shape;182;p4"/>
          <p:cNvSpPr txBox="1"/>
          <p:nvPr/>
        </p:nvSpPr>
        <p:spPr>
          <a:xfrm>
            <a:off x="7022285" y="7527636"/>
            <a:ext cx="4243508" cy="551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Lógica de presentación con StateFlow/LiveData para estado reactivo.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11698067" y="7527636"/>
            <a:ext cx="4243508" cy="551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Jetpack Compose declarativo para UI reactiva y moderna.</a:t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13321005" y="4250659"/>
            <a:ext cx="999117" cy="1800211"/>
          </a:xfrm>
          <a:custGeom>
            <a:rect b="b" l="l" r="r" t="t"/>
            <a:pathLst>
              <a:path extrusionOk="0" h="1800211" w="999117">
                <a:moveTo>
                  <a:pt x="0" y="0"/>
                </a:moveTo>
                <a:lnTo>
                  <a:pt x="999117" y="0"/>
                </a:lnTo>
                <a:lnTo>
                  <a:pt x="999117" y="1800210"/>
                </a:lnTo>
                <a:lnTo>
                  <a:pt x="0" y="18002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4"/>
          <p:cNvSpPr/>
          <p:nvPr/>
        </p:nvSpPr>
        <p:spPr>
          <a:xfrm>
            <a:off x="15722836" y="9258300"/>
            <a:ext cx="2565164" cy="932787"/>
          </a:xfrm>
          <a:custGeom>
            <a:rect b="b" l="l" r="r" t="t"/>
            <a:pathLst>
              <a:path extrusionOk="0" h="932787" w="2565164">
                <a:moveTo>
                  <a:pt x="0" y="0"/>
                </a:moveTo>
                <a:lnTo>
                  <a:pt x="2565164" y="0"/>
                </a:lnTo>
                <a:lnTo>
                  <a:pt x="2565164" y="932787"/>
                </a:lnTo>
                <a:lnTo>
                  <a:pt x="0" y="932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4"/>
          <p:cNvSpPr txBox="1"/>
          <p:nvPr/>
        </p:nvSpPr>
        <p:spPr>
          <a:xfrm>
            <a:off x="1476035" y="579568"/>
            <a:ext cx="1661759" cy="382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FarmaCode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30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/>
          <p:nvPr/>
        </p:nvSpPr>
        <p:spPr>
          <a:xfrm>
            <a:off x="12825159" y="2103364"/>
            <a:ext cx="8183623" cy="8183623"/>
          </a:xfrm>
          <a:custGeom>
            <a:rect b="b" l="l" r="r" t="t"/>
            <a:pathLst>
              <a:path extrusionOk="0" h="8183623" w="8183623">
                <a:moveTo>
                  <a:pt x="0" y="0"/>
                </a:moveTo>
                <a:lnTo>
                  <a:pt x="8183623" y="0"/>
                </a:lnTo>
                <a:lnTo>
                  <a:pt x="8183623" y="8183623"/>
                </a:lnTo>
                <a:lnTo>
                  <a:pt x="0" y="8183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5"/>
          <p:cNvSpPr/>
          <p:nvPr/>
        </p:nvSpPr>
        <p:spPr>
          <a:xfrm>
            <a:off x="835402" y="664269"/>
            <a:ext cx="460249" cy="575311"/>
          </a:xfrm>
          <a:custGeom>
            <a:rect b="b" l="l" r="r" t="t"/>
            <a:pathLst>
              <a:path extrusionOk="0" h="575311" w="460249">
                <a:moveTo>
                  <a:pt x="0" y="0"/>
                </a:moveTo>
                <a:lnTo>
                  <a:pt x="460248" y="0"/>
                </a:lnTo>
                <a:lnTo>
                  <a:pt x="460248" y="575311"/>
                </a:lnTo>
                <a:lnTo>
                  <a:pt x="0" y="575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5"/>
          <p:cNvSpPr txBox="1"/>
          <p:nvPr/>
        </p:nvSpPr>
        <p:spPr>
          <a:xfrm>
            <a:off x="3901006" y="1652020"/>
            <a:ext cx="10485988" cy="778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7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Patrones de Diseño en Backend</a:t>
            </a:r>
            <a:endParaRPr/>
          </a:p>
        </p:txBody>
      </p:sp>
      <p:grpSp>
        <p:nvGrpSpPr>
          <p:cNvPr id="194" name="Google Shape;194;p5"/>
          <p:cNvGrpSpPr/>
          <p:nvPr/>
        </p:nvGrpSpPr>
        <p:grpSpPr>
          <a:xfrm>
            <a:off x="3534884" y="4693786"/>
            <a:ext cx="3597433" cy="4332236"/>
            <a:chOff x="0" y="-66675"/>
            <a:chExt cx="1941410" cy="2337958"/>
          </a:xfrm>
        </p:grpSpPr>
        <p:sp>
          <p:nvSpPr>
            <p:cNvPr id="195" name="Google Shape;195;p5"/>
            <p:cNvSpPr/>
            <p:nvPr/>
          </p:nvSpPr>
          <p:spPr>
            <a:xfrm>
              <a:off x="0" y="0"/>
              <a:ext cx="1941410" cy="2271283"/>
            </a:xfrm>
            <a:custGeom>
              <a:rect b="b" l="l" r="r" t="t"/>
              <a:pathLst>
                <a:path extrusionOk="0" h="2271283" w="1941410">
                  <a:moveTo>
                    <a:pt x="73170" y="0"/>
                  </a:moveTo>
                  <a:lnTo>
                    <a:pt x="1868240" y="0"/>
                  </a:lnTo>
                  <a:cubicBezTo>
                    <a:pt x="1908651" y="0"/>
                    <a:pt x="1941410" y="32759"/>
                    <a:pt x="1941410" y="73170"/>
                  </a:cubicBezTo>
                  <a:lnTo>
                    <a:pt x="1941410" y="2198114"/>
                  </a:lnTo>
                  <a:cubicBezTo>
                    <a:pt x="1941410" y="2217519"/>
                    <a:pt x="1933701" y="2236130"/>
                    <a:pt x="1919979" y="2249852"/>
                  </a:cubicBezTo>
                  <a:cubicBezTo>
                    <a:pt x="1906257" y="2263574"/>
                    <a:pt x="1887646" y="2271283"/>
                    <a:pt x="1868240" y="2271283"/>
                  </a:cubicBezTo>
                  <a:lnTo>
                    <a:pt x="73170" y="2271283"/>
                  </a:lnTo>
                  <a:cubicBezTo>
                    <a:pt x="53764" y="2271283"/>
                    <a:pt x="35153" y="2263574"/>
                    <a:pt x="21431" y="2249852"/>
                  </a:cubicBezTo>
                  <a:cubicBezTo>
                    <a:pt x="7709" y="2236130"/>
                    <a:pt x="0" y="2217519"/>
                    <a:pt x="0" y="2198114"/>
                  </a:cubicBezTo>
                  <a:lnTo>
                    <a:pt x="0" y="73170"/>
                  </a:lnTo>
                  <a:cubicBezTo>
                    <a:pt x="0" y="53764"/>
                    <a:pt x="7709" y="35153"/>
                    <a:pt x="21431" y="21431"/>
                  </a:cubicBezTo>
                  <a:cubicBezTo>
                    <a:pt x="35153" y="7709"/>
                    <a:pt x="53764" y="0"/>
                    <a:pt x="73170" y="0"/>
                  </a:cubicBezTo>
                  <a:close/>
                </a:path>
              </a:pathLst>
            </a:custGeom>
            <a:solidFill>
              <a:srgbClr val="1222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5"/>
            <p:cNvSpPr txBox="1"/>
            <p:nvPr/>
          </p:nvSpPr>
          <p:spPr>
            <a:xfrm>
              <a:off x="0" y="-66675"/>
              <a:ext cx="1941410" cy="2337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5"/>
          <p:cNvGrpSpPr/>
          <p:nvPr/>
        </p:nvGrpSpPr>
        <p:grpSpPr>
          <a:xfrm>
            <a:off x="4301141" y="3747254"/>
            <a:ext cx="2064918" cy="2064918"/>
            <a:chOff x="0" y="0"/>
            <a:chExt cx="812800" cy="812800"/>
          </a:xfrm>
        </p:grpSpPr>
        <p:sp>
          <p:nvSpPr>
            <p:cNvPr id="198" name="Google Shape;198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5"/>
          <p:cNvSpPr/>
          <p:nvPr/>
        </p:nvSpPr>
        <p:spPr>
          <a:xfrm>
            <a:off x="4936685" y="4047108"/>
            <a:ext cx="943210" cy="1595835"/>
          </a:xfrm>
          <a:custGeom>
            <a:rect b="b" l="l" r="r" t="t"/>
            <a:pathLst>
              <a:path extrusionOk="0" h="1595835" w="943210">
                <a:moveTo>
                  <a:pt x="0" y="0"/>
                </a:moveTo>
                <a:lnTo>
                  <a:pt x="943210" y="0"/>
                </a:lnTo>
                <a:lnTo>
                  <a:pt x="943210" y="1595836"/>
                </a:lnTo>
                <a:lnTo>
                  <a:pt x="0" y="15958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5"/>
          <p:cNvSpPr txBox="1"/>
          <p:nvPr/>
        </p:nvSpPr>
        <p:spPr>
          <a:xfrm>
            <a:off x="4049344" y="6880262"/>
            <a:ext cx="2574000" cy="1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Gestiona información de fármacos bioequivalentes.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3536870" y="6259867"/>
            <a:ext cx="35988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MEDICAMENTOS</a:t>
            </a:r>
            <a:endParaRPr/>
          </a:p>
        </p:txBody>
      </p:sp>
      <p:grpSp>
        <p:nvGrpSpPr>
          <p:cNvPr id="203" name="Google Shape;203;p5"/>
          <p:cNvGrpSpPr/>
          <p:nvPr/>
        </p:nvGrpSpPr>
        <p:grpSpPr>
          <a:xfrm>
            <a:off x="7345278" y="4677732"/>
            <a:ext cx="3597433" cy="4332236"/>
            <a:chOff x="0" y="-66675"/>
            <a:chExt cx="1941410" cy="2337958"/>
          </a:xfrm>
        </p:grpSpPr>
        <p:sp>
          <p:nvSpPr>
            <p:cNvPr id="204" name="Google Shape;204;p5"/>
            <p:cNvSpPr/>
            <p:nvPr/>
          </p:nvSpPr>
          <p:spPr>
            <a:xfrm>
              <a:off x="0" y="0"/>
              <a:ext cx="1941410" cy="2271283"/>
            </a:xfrm>
            <a:custGeom>
              <a:rect b="b" l="l" r="r" t="t"/>
              <a:pathLst>
                <a:path extrusionOk="0" h="2271283" w="1941410">
                  <a:moveTo>
                    <a:pt x="73170" y="0"/>
                  </a:moveTo>
                  <a:lnTo>
                    <a:pt x="1868240" y="0"/>
                  </a:lnTo>
                  <a:cubicBezTo>
                    <a:pt x="1908651" y="0"/>
                    <a:pt x="1941410" y="32759"/>
                    <a:pt x="1941410" y="73170"/>
                  </a:cubicBezTo>
                  <a:lnTo>
                    <a:pt x="1941410" y="2198114"/>
                  </a:lnTo>
                  <a:cubicBezTo>
                    <a:pt x="1941410" y="2217519"/>
                    <a:pt x="1933701" y="2236130"/>
                    <a:pt x="1919979" y="2249852"/>
                  </a:cubicBezTo>
                  <a:cubicBezTo>
                    <a:pt x="1906257" y="2263574"/>
                    <a:pt x="1887646" y="2271283"/>
                    <a:pt x="1868240" y="2271283"/>
                  </a:cubicBezTo>
                  <a:lnTo>
                    <a:pt x="73170" y="2271283"/>
                  </a:lnTo>
                  <a:cubicBezTo>
                    <a:pt x="53764" y="2271283"/>
                    <a:pt x="35153" y="2263574"/>
                    <a:pt x="21431" y="2249852"/>
                  </a:cubicBezTo>
                  <a:cubicBezTo>
                    <a:pt x="7709" y="2236130"/>
                    <a:pt x="0" y="2217519"/>
                    <a:pt x="0" y="2198114"/>
                  </a:cubicBezTo>
                  <a:lnTo>
                    <a:pt x="0" y="73170"/>
                  </a:lnTo>
                  <a:cubicBezTo>
                    <a:pt x="0" y="53764"/>
                    <a:pt x="7709" y="35153"/>
                    <a:pt x="21431" y="21431"/>
                  </a:cubicBezTo>
                  <a:cubicBezTo>
                    <a:pt x="35153" y="7709"/>
                    <a:pt x="53764" y="0"/>
                    <a:pt x="73170" y="0"/>
                  </a:cubicBezTo>
                  <a:close/>
                </a:path>
              </a:pathLst>
            </a:custGeom>
            <a:solidFill>
              <a:srgbClr val="1222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5"/>
            <p:cNvSpPr txBox="1"/>
            <p:nvPr/>
          </p:nvSpPr>
          <p:spPr>
            <a:xfrm>
              <a:off x="0" y="-66675"/>
              <a:ext cx="1941410" cy="2337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5"/>
          <p:cNvGrpSpPr/>
          <p:nvPr/>
        </p:nvGrpSpPr>
        <p:grpSpPr>
          <a:xfrm>
            <a:off x="8111535" y="3663903"/>
            <a:ext cx="2064918" cy="2064918"/>
            <a:chOff x="0" y="0"/>
            <a:chExt cx="812800" cy="812800"/>
          </a:xfrm>
        </p:grpSpPr>
        <p:sp>
          <p:nvSpPr>
            <p:cNvPr id="207" name="Google Shape;207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5"/>
          <p:cNvSpPr/>
          <p:nvPr/>
        </p:nvSpPr>
        <p:spPr>
          <a:xfrm>
            <a:off x="8505798" y="3942352"/>
            <a:ext cx="1290133" cy="1351960"/>
          </a:xfrm>
          <a:custGeom>
            <a:rect b="b" l="l" r="r" t="t"/>
            <a:pathLst>
              <a:path extrusionOk="0" h="1351960" w="1290133">
                <a:moveTo>
                  <a:pt x="0" y="0"/>
                </a:moveTo>
                <a:lnTo>
                  <a:pt x="1290133" y="0"/>
                </a:lnTo>
                <a:lnTo>
                  <a:pt x="1290133" y="1351961"/>
                </a:lnTo>
                <a:lnTo>
                  <a:pt x="0" y="13519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5"/>
          <p:cNvSpPr txBox="1"/>
          <p:nvPr/>
        </p:nvSpPr>
        <p:spPr>
          <a:xfrm>
            <a:off x="7854718" y="6880262"/>
            <a:ext cx="2578500" cy="8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Autenticación y perfiles de usuario.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7875285" y="6259867"/>
            <a:ext cx="25374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USUARIOS</a:t>
            </a:r>
            <a:endParaRPr/>
          </a:p>
        </p:txBody>
      </p:sp>
      <p:grpSp>
        <p:nvGrpSpPr>
          <p:cNvPr id="212" name="Google Shape;212;p5"/>
          <p:cNvGrpSpPr/>
          <p:nvPr/>
        </p:nvGrpSpPr>
        <p:grpSpPr>
          <a:xfrm>
            <a:off x="11155672" y="4677732"/>
            <a:ext cx="3597433" cy="4332236"/>
            <a:chOff x="0" y="-66675"/>
            <a:chExt cx="1941410" cy="2337958"/>
          </a:xfrm>
        </p:grpSpPr>
        <p:sp>
          <p:nvSpPr>
            <p:cNvPr id="213" name="Google Shape;213;p5"/>
            <p:cNvSpPr/>
            <p:nvPr/>
          </p:nvSpPr>
          <p:spPr>
            <a:xfrm>
              <a:off x="0" y="0"/>
              <a:ext cx="1941410" cy="2271283"/>
            </a:xfrm>
            <a:custGeom>
              <a:rect b="b" l="l" r="r" t="t"/>
              <a:pathLst>
                <a:path extrusionOk="0" h="2271283" w="1941410">
                  <a:moveTo>
                    <a:pt x="73170" y="0"/>
                  </a:moveTo>
                  <a:lnTo>
                    <a:pt x="1868240" y="0"/>
                  </a:lnTo>
                  <a:cubicBezTo>
                    <a:pt x="1908651" y="0"/>
                    <a:pt x="1941410" y="32759"/>
                    <a:pt x="1941410" y="73170"/>
                  </a:cubicBezTo>
                  <a:lnTo>
                    <a:pt x="1941410" y="2198114"/>
                  </a:lnTo>
                  <a:cubicBezTo>
                    <a:pt x="1941410" y="2217519"/>
                    <a:pt x="1933701" y="2236130"/>
                    <a:pt x="1919979" y="2249852"/>
                  </a:cubicBezTo>
                  <a:cubicBezTo>
                    <a:pt x="1906257" y="2263574"/>
                    <a:pt x="1887646" y="2271283"/>
                    <a:pt x="1868240" y="2271283"/>
                  </a:cubicBezTo>
                  <a:lnTo>
                    <a:pt x="73170" y="2271283"/>
                  </a:lnTo>
                  <a:cubicBezTo>
                    <a:pt x="53764" y="2271283"/>
                    <a:pt x="35153" y="2263574"/>
                    <a:pt x="21431" y="2249852"/>
                  </a:cubicBezTo>
                  <a:cubicBezTo>
                    <a:pt x="7709" y="2236130"/>
                    <a:pt x="0" y="2217519"/>
                    <a:pt x="0" y="2198114"/>
                  </a:cubicBezTo>
                  <a:lnTo>
                    <a:pt x="0" y="73170"/>
                  </a:lnTo>
                  <a:cubicBezTo>
                    <a:pt x="0" y="53764"/>
                    <a:pt x="7709" y="35153"/>
                    <a:pt x="21431" y="21431"/>
                  </a:cubicBezTo>
                  <a:cubicBezTo>
                    <a:pt x="35153" y="7709"/>
                    <a:pt x="53764" y="0"/>
                    <a:pt x="73170" y="0"/>
                  </a:cubicBezTo>
                  <a:close/>
                </a:path>
              </a:pathLst>
            </a:custGeom>
            <a:solidFill>
              <a:srgbClr val="1222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5"/>
            <p:cNvSpPr txBox="1"/>
            <p:nvPr/>
          </p:nvSpPr>
          <p:spPr>
            <a:xfrm>
              <a:off x="0" y="-66675"/>
              <a:ext cx="1941410" cy="2337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5"/>
          <p:cNvGrpSpPr/>
          <p:nvPr/>
        </p:nvGrpSpPr>
        <p:grpSpPr>
          <a:xfrm>
            <a:off x="11922287" y="3747254"/>
            <a:ext cx="2064918" cy="2064918"/>
            <a:chOff x="0" y="0"/>
            <a:chExt cx="812800" cy="812800"/>
          </a:xfrm>
        </p:grpSpPr>
        <p:sp>
          <p:nvSpPr>
            <p:cNvPr id="216" name="Google Shape;216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5"/>
          <p:cNvSpPr/>
          <p:nvPr/>
        </p:nvSpPr>
        <p:spPr>
          <a:xfrm>
            <a:off x="12380206" y="4202854"/>
            <a:ext cx="1291018" cy="1383035"/>
          </a:xfrm>
          <a:custGeom>
            <a:rect b="b" l="l" r="r" t="t"/>
            <a:pathLst>
              <a:path extrusionOk="0" h="1383035" w="1291018">
                <a:moveTo>
                  <a:pt x="0" y="0"/>
                </a:moveTo>
                <a:lnTo>
                  <a:pt x="1291018" y="0"/>
                </a:lnTo>
                <a:lnTo>
                  <a:pt x="1291018" y="1383035"/>
                </a:lnTo>
                <a:lnTo>
                  <a:pt x="0" y="1383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5"/>
          <p:cNvSpPr txBox="1"/>
          <p:nvPr/>
        </p:nvSpPr>
        <p:spPr>
          <a:xfrm>
            <a:off x="11639039" y="6880262"/>
            <a:ext cx="26313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Integración con Gemini API para normalización.</a:t>
            </a:r>
            <a:endParaRPr/>
          </a:p>
        </p:txBody>
      </p:sp>
      <p:sp>
        <p:nvSpPr>
          <p:cNvPr id="220" name="Google Shape;220;p5"/>
          <p:cNvSpPr txBox="1"/>
          <p:nvPr/>
        </p:nvSpPr>
        <p:spPr>
          <a:xfrm>
            <a:off x="11156388" y="6259867"/>
            <a:ext cx="3596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CONSULTAS</a:t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15722836" y="9258300"/>
            <a:ext cx="2565164" cy="932787"/>
          </a:xfrm>
          <a:custGeom>
            <a:rect b="b" l="l" r="r" t="t"/>
            <a:pathLst>
              <a:path extrusionOk="0" h="932787" w="2565164">
                <a:moveTo>
                  <a:pt x="0" y="0"/>
                </a:moveTo>
                <a:lnTo>
                  <a:pt x="2565164" y="0"/>
                </a:lnTo>
                <a:lnTo>
                  <a:pt x="2565164" y="932787"/>
                </a:lnTo>
                <a:lnTo>
                  <a:pt x="0" y="932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5"/>
          <p:cNvSpPr txBox="1"/>
          <p:nvPr/>
        </p:nvSpPr>
        <p:spPr>
          <a:xfrm>
            <a:off x="1476035" y="579568"/>
            <a:ext cx="1661759" cy="382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FarmaCode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30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"/>
          <p:cNvSpPr/>
          <p:nvPr/>
        </p:nvSpPr>
        <p:spPr>
          <a:xfrm>
            <a:off x="11153775" y="4819650"/>
            <a:ext cx="3600450" cy="4210050"/>
          </a:xfrm>
          <a:custGeom>
            <a:rect b="b" l="l" r="r" t="t"/>
            <a:pathLst>
              <a:path extrusionOk="0" h="5613400" w="4800600">
                <a:moveTo>
                  <a:pt x="480060" y="0"/>
                </a:moveTo>
                <a:lnTo>
                  <a:pt x="4320540" y="0"/>
                </a:lnTo>
                <a:cubicBezTo>
                  <a:pt x="4585670" y="0"/>
                  <a:pt x="4800600" y="214930"/>
                  <a:pt x="4800600" y="480060"/>
                </a:cubicBezTo>
                <a:lnTo>
                  <a:pt x="4800600" y="5133340"/>
                </a:lnTo>
                <a:cubicBezTo>
                  <a:pt x="4800600" y="5398470"/>
                  <a:pt x="4585670" y="5613400"/>
                  <a:pt x="4320540" y="5613400"/>
                </a:cubicBezTo>
                <a:lnTo>
                  <a:pt x="480060" y="5613400"/>
                </a:lnTo>
                <a:cubicBezTo>
                  <a:pt x="214930" y="5613400"/>
                  <a:pt x="0" y="5398470"/>
                  <a:pt x="0" y="5133340"/>
                </a:cubicBezTo>
                <a:lnTo>
                  <a:pt x="0" y="480060"/>
                </a:lnTo>
                <a:cubicBezTo>
                  <a:pt x="0" y="214930"/>
                  <a:pt x="214930" y="0"/>
                  <a:pt x="480060" y="0"/>
                </a:cubicBezTo>
                <a:close/>
              </a:path>
            </a:pathLst>
          </a:custGeom>
          <a:solidFill>
            <a:srgbClr val="1222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7343775" y="4819650"/>
            <a:ext cx="3600450" cy="4210050"/>
          </a:xfrm>
          <a:custGeom>
            <a:rect b="b" l="l" r="r" t="t"/>
            <a:pathLst>
              <a:path extrusionOk="0" h="5613400" w="4800600">
                <a:moveTo>
                  <a:pt x="480060" y="0"/>
                </a:moveTo>
                <a:lnTo>
                  <a:pt x="4320540" y="0"/>
                </a:lnTo>
                <a:cubicBezTo>
                  <a:pt x="4585670" y="0"/>
                  <a:pt x="4800600" y="214930"/>
                  <a:pt x="4800600" y="480060"/>
                </a:cubicBezTo>
                <a:lnTo>
                  <a:pt x="4800600" y="5133340"/>
                </a:lnTo>
                <a:cubicBezTo>
                  <a:pt x="4800600" y="5398470"/>
                  <a:pt x="4585670" y="5613400"/>
                  <a:pt x="4320540" y="5613400"/>
                </a:cubicBezTo>
                <a:lnTo>
                  <a:pt x="480060" y="5613400"/>
                </a:lnTo>
                <a:cubicBezTo>
                  <a:pt x="214930" y="5613400"/>
                  <a:pt x="0" y="5398470"/>
                  <a:pt x="0" y="5133340"/>
                </a:cubicBezTo>
                <a:lnTo>
                  <a:pt x="0" y="480060"/>
                </a:lnTo>
                <a:cubicBezTo>
                  <a:pt x="0" y="214930"/>
                  <a:pt x="214930" y="0"/>
                  <a:pt x="480060" y="0"/>
                </a:cubicBezTo>
                <a:close/>
              </a:path>
            </a:pathLst>
          </a:custGeom>
          <a:solidFill>
            <a:srgbClr val="1222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3533775" y="4819650"/>
            <a:ext cx="3600450" cy="4210050"/>
          </a:xfrm>
          <a:custGeom>
            <a:rect b="b" l="l" r="r" t="t"/>
            <a:pathLst>
              <a:path extrusionOk="0" h="5613400" w="4800600">
                <a:moveTo>
                  <a:pt x="480060" y="0"/>
                </a:moveTo>
                <a:lnTo>
                  <a:pt x="4320540" y="0"/>
                </a:lnTo>
                <a:cubicBezTo>
                  <a:pt x="4585670" y="0"/>
                  <a:pt x="4800600" y="214930"/>
                  <a:pt x="4800600" y="480060"/>
                </a:cubicBezTo>
                <a:lnTo>
                  <a:pt x="4800600" y="5133340"/>
                </a:lnTo>
                <a:cubicBezTo>
                  <a:pt x="4800600" y="5398470"/>
                  <a:pt x="4585670" y="5613400"/>
                  <a:pt x="4320540" y="5613400"/>
                </a:cubicBezTo>
                <a:lnTo>
                  <a:pt x="480060" y="5613400"/>
                </a:lnTo>
                <a:cubicBezTo>
                  <a:pt x="214930" y="5613400"/>
                  <a:pt x="0" y="5398470"/>
                  <a:pt x="0" y="5133340"/>
                </a:cubicBezTo>
                <a:lnTo>
                  <a:pt x="0" y="480060"/>
                </a:lnTo>
                <a:cubicBezTo>
                  <a:pt x="0" y="214930"/>
                  <a:pt x="214930" y="0"/>
                  <a:pt x="480060" y="0"/>
                </a:cubicBezTo>
                <a:close/>
              </a:path>
            </a:pathLst>
          </a:custGeom>
          <a:solidFill>
            <a:srgbClr val="1222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12370759" y="1859527"/>
            <a:ext cx="8183623" cy="8183623"/>
          </a:xfrm>
          <a:custGeom>
            <a:rect b="b" l="l" r="r" t="t"/>
            <a:pathLst>
              <a:path extrusionOk="0" h="8183623" w="8183623">
                <a:moveTo>
                  <a:pt x="0" y="0"/>
                </a:moveTo>
                <a:lnTo>
                  <a:pt x="8183623" y="0"/>
                </a:lnTo>
                <a:lnTo>
                  <a:pt x="8183623" y="8183623"/>
                </a:lnTo>
                <a:lnTo>
                  <a:pt x="0" y="8183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6"/>
          <p:cNvSpPr/>
          <p:nvPr/>
        </p:nvSpPr>
        <p:spPr>
          <a:xfrm>
            <a:off x="835402" y="664269"/>
            <a:ext cx="460249" cy="575311"/>
          </a:xfrm>
          <a:custGeom>
            <a:rect b="b" l="l" r="r" t="t"/>
            <a:pathLst>
              <a:path extrusionOk="0" h="575311" w="460249">
                <a:moveTo>
                  <a:pt x="0" y="0"/>
                </a:moveTo>
                <a:lnTo>
                  <a:pt x="460248" y="0"/>
                </a:lnTo>
                <a:lnTo>
                  <a:pt x="460248" y="575311"/>
                </a:lnTo>
                <a:lnTo>
                  <a:pt x="0" y="575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6"/>
          <p:cNvSpPr/>
          <p:nvPr/>
        </p:nvSpPr>
        <p:spPr>
          <a:xfrm>
            <a:off x="4305300" y="3743338"/>
            <a:ext cx="2066925" cy="2066925"/>
          </a:xfrm>
          <a:custGeom>
            <a:rect b="b" l="l" r="r" t="t"/>
            <a:pathLst>
              <a:path extrusionOk="0" h="2755900" w="2755900">
                <a:moveTo>
                  <a:pt x="1377950" y="0"/>
                </a:moveTo>
                <a:cubicBezTo>
                  <a:pt x="616929" y="0"/>
                  <a:pt x="0" y="616929"/>
                  <a:pt x="0" y="1377950"/>
                </a:cubicBezTo>
                <a:cubicBezTo>
                  <a:pt x="0" y="2138971"/>
                  <a:pt x="616929" y="2755900"/>
                  <a:pt x="1377950" y="2755900"/>
                </a:cubicBezTo>
                <a:cubicBezTo>
                  <a:pt x="2138971" y="2755900"/>
                  <a:pt x="2755900" y="2138971"/>
                  <a:pt x="2755900" y="1377950"/>
                </a:cubicBezTo>
                <a:cubicBezTo>
                  <a:pt x="2755900" y="616929"/>
                  <a:pt x="2138971" y="0"/>
                  <a:pt x="1377950" y="0"/>
                </a:cubicBezTo>
                <a:close/>
              </a:path>
            </a:pathLst>
          </a:cu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8105775" y="3743325"/>
            <a:ext cx="2066925" cy="2066925"/>
          </a:xfrm>
          <a:custGeom>
            <a:rect b="b" l="l" r="r" t="t"/>
            <a:pathLst>
              <a:path extrusionOk="0" h="2755900" w="2755900">
                <a:moveTo>
                  <a:pt x="1377950" y="0"/>
                </a:moveTo>
                <a:cubicBezTo>
                  <a:pt x="616929" y="0"/>
                  <a:pt x="0" y="616929"/>
                  <a:pt x="0" y="1377950"/>
                </a:cubicBezTo>
                <a:cubicBezTo>
                  <a:pt x="0" y="2138971"/>
                  <a:pt x="616929" y="2755900"/>
                  <a:pt x="1377950" y="2755900"/>
                </a:cubicBezTo>
                <a:cubicBezTo>
                  <a:pt x="2138971" y="2755900"/>
                  <a:pt x="2755900" y="2138971"/>
                  <a:pt x="2755900" y="1377950"/>
                </a:cubicBezTo>
                <a:cubicBezTo>
                  <a:pt x="2755900" y="616929"/>
                  <a:pt x="2138971" y="0"/>
                  <a:pt x="1377950" y="0"/>
                </a:cubicBezTo>
                <a:close/>
              </a:path>
            </a:pathLst>
          </a:cu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11915775" y="3743325"/>
            <a:ext cx="2066925" cy="2066925"/>
          </a:xfrm>
          <a:custGeom>
            <a:rect b="b" l="l" r="r" t="t"/>
            <a:pathLst>
              <a:path extrusionOk="0" h="2755900" w="2755900">
                <a:moveTo>
                  <a:pt x="1377950" y="0"/>
                </a:moveTo>
                <a:cubicBezTo>
                  <a:pt x="616929" y="0"/>
                  <a:pt x="0" y="616929"/>
                  <a:pt x="0" y="1377950"/>
                </a:cubicBezTo>
                <a:cubicBezTo>
                  <a:pt x="0" y="2138971"/>
                  <a:pt x="616929" y="2755900"/>
                  <a:pt x="1377950" y="2755900"/>
                </a:cubicBezTo>
                <a:cubicBezTo>
                  <a:pt x="2138971" y="2755900"/>
                  <a:pt x="2755900" y="2138971"/>
                  <a:pt x="2755900" y="1377950"/>
                </a:cubicBezTo>
                <a:cubicBezTo>
                  <a:pt x="2755900" y="616929"/>
                  <a:pt x="2138971" y="0"/>
                  <a:pt x="1377950" y="0"/>
                </a:cubicBezTo>
                <a:close/>
              </a:path>
            </a:pathLst>
          </a:cu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15722836" y="9258300"/>
            <a:ext cx="2565164" cy="932787"/>
          </a:xfrm>
          <a:custGeom>
            <a:rect b="b" l="l" r="r" t="t"/>
            <a:pathLst>
              <a:path extrusionOk="0" h="932787" w="2565164">
                <a:moveTo>
                  <a:pt x="0" y="0"/>
                </a:moveTo>
                <a:lnTo>
                  <a:pt x="2565164" y="0"/>
                </a:lnTo>
                <a:lnTo>
                  <a:pt x="2565164" y="932787"/>
                </a:lnTo>
                <a:lnTo>
                  <a:pt x="0" y="932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6"/>
          <p:cNvSpPr/>
          <p:nvPr/>
        </p:nvSpPr>
        <p:spPr>
          <a:xfrm>
            <a:off x="4857750" y="4300538"/>
            <a:ext cx="952500" cy="952500"/>
          </a:xfrm>
          <a:custGeom>
            <a:rect b="b" l="l" r="r" t="t"/>
            <a:pathLst>
              <a:path extrusionOk="0" h="952500" w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6"/>
          <p:cNvSpPr/>
          <p:nvPr/>
        </p:nvSpPr>
        <p:spPr>
          <a:xfrm>
            <a:off x="8667750" y="4295775"/>
            <a:ext cx="952500" cy="952500"/>
          </a:xfrm>
          <a:custGeom>
            <a:rect b="b" l="l" r="r" t="t"/>
            <a:pathLst>
              <a:path extrusionOk="0" h="952500" w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6"/>
          <p:cNvSpPr/>
          <p:nvPr/>
        </p:nvSpPr>
        <p:spPr>
          <a:xfrm>
            <a:off x="12477750" y="4295775"/>
            <a:ext cx="952500" cy="952500"/>
          </a:xfrm>
          <a:custGeom>
            <a:rect b="b" l="l" r="r" t="t"/>
            <a:pathLst>
              <a:path extrusionOk="0" h="952500" w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6"/>
          <p:cNvSpPr txBox="1"/>
          <p:nvPr/>
        </p:nvSpPr>
        <p:spPr>
          <a:xfrm>
            <a:off x="1476035" y="579568"/>
            <a:ext cx="1661759" cy="382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FarmaCode</a:t>
            </a:r>
            <a:endParaRPr/>
          </a:p>
        </p:txBody>
      </p:sp>
      <p:sp>
        <p:nvSpPr>
          <p:cNvPr id="240" name="Google Shape;240;p6"/>
          <p:cNvSpPr txBox="1"/>
          <p:nvPr/>
        </p:nvSpPr>
        <p:spPr>
          <a:xfrm>
            <a:off x="3895725" y="1638300"/>
            <a:ext cx="10487025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47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Arquitectura General del Sistema</a:t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11525250" y="6772275"/>
            <a:ext cx="2857500" cy="1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Backend escalable con alta disponibilidad en la nube.</a:t>
            </a:r>
            <a:endParaRPr/>
          </a:p>
        </p:txBody>
      </p:sp>
      <p:sp>
        <p:nvSpPr>
          <p:cNvPr id="242" name="Google Shape;242;p6"/>
          <p:cNvSpPr txBox="1"/>
          <p:nvPr/>
        </p:nvSpPr>
        <p:spPr>
          <a:xfrm>
            <a:off x="7715250" y="6772275"/>
            <a:ext cx="2857500" cy="1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Comunicación segura entre app y backend vía REST.</a:t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3905250" y="6772275"/>
            <a:ext cx="28575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App con patrón MVVM, UI reactiva con Jetpack Compose.</a:t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11153775" y="6296025"/>
            <a:ext cx="3600450" cy="382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RAILWAY CLOUD</a:t>
            </a:r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7343775" y="6296025"/>
            <a:ext cx="3600450" cy="382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APIs REST / HTTPS</a:t>
            </a:r>
            <a:endParaRPr/>
          </a:p>
        </p:txBody>
      </p:sp>
      <p:sp>
        <p:nvSpPr>
          <p:cNvPr id="246" name="Google Shape;246;p6"/>
          <p:cNvSpPr txBox="1"/>
          <p:nvPr/>
        </p:nvSpPr>
        <p:spPr>
          <a:xfrm>
            <a:off x="3533775" y="6296025"/>
            <a:ext cx="3600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ANDROID MVVM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3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835402" y="664269"/>
            <a:ext cx="460249" cy="575311"/>
          </a:xfrm>
          <a:custGeom>
            <a:rect b="b" l="l" r="r" t="t"/>
            <a:pathLst>
              <a:path extrusionOk="0" h="575311" w="460249">
                <a:moveTo>
                  <a:pt x="0" y="0"/>
                </a:moveTo>
                <a:lnTo>
                  <a:pt x="460248" y="0"/>
                </a:lnTo>
                <a:lnTo>
                  <a:pt x="460248" y="575311"/>
                </a:lnTo>
                <a:lnTo>
                  <a:pt x="0" y="575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2" name="Google Shape;252;p7"/>
          <p:cNvGrpSpPr/>
          <p:nvPr/>
        </p:nvGrpSpPr>
        <p:grpSpPr>
          <a:xfrm>
            <a:off x="10016140" y="2398457"/>
            <a:ext cx="1420271" cy="1610954"/>
            <a:chOff x="0" y="-66675"/>
            <a:chExt cx="374063" cy="424284"/>
          </a:xfrm>
        </p:grpSpPr>
        <p:sp>
          <p:nvSpPr>
            <p:cNvPr id="253" name="Google Shape;253;p7"/>
            <p:cNvSpPr/>
            <p:nvPr/>
          </p:nvSpPr>
          <p:spPr>
            <a:xfrm>
              <a:off x="0" y="0"/>
              <a:ext cx="374063" cy="357609"/>
            </a:xfrm>
            <a:custGeom>
              <a:rect b="b" l="l" r="r" t="t"/>
              <a:pathLst>
                <a:path extrusionOk="0" h="357609" w="374063">
                  <a:moveTo>
                    <a:pt x="119922" y="0"/>
                  </a:moveTo>
                  <a:lnTo>
                    <a:pt x="254141" y="0"/>
                  </a:lnTo>
                  <a:cubicBezTo>
                    <a:pt x="320372" y="0"/>
                    <a:pt x="374063" y="53691"/>
                    <a:pt x="374063" y="119922"/>
                  </a:cubicBezTo>
                  <a:lnTo>
                    <a:pt x="374063" y="237687"/>
                  </a:lnTo>
                  <a:cubicBezTo>
                    <a:pt x="374063" y="303918"/>
                    <a:pt x="320372" y="357609"/>
                    <a:pt x="254141" y="357609"/>
                  </a:cubicBezTo>
                  <a:lnTo>
                    <a:pt x="119922" y="357609"/>
                  </a:lnTo>
                  <a:cubicBezTo>
                    <a:pt x="53691" y="357609"/>
                    <a:pt x="0" y="303918"/>
                    <a:pt x="0" y="237687"/>
                  </a:cubicBezTo>
                  <a:lnTo>
                    <a:pt x="0" y="119922"/>
                  </a:lnTo>
                  <a:cubicBezTo>
                    <a:pt x="0" y="53691"/>
                    <a:pt x="53691" y="0"/>
                    <a:pt x="119922" y="0"/>
                  </a:cubicBezTo>
                  <a:close/>
                </a:path>
              </a:pathLst>
            </a:custGeom>
            <a:solidFill>
              <a:srgbClr val="5C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7"/>
            <p:cNvSpPr txBox="1"/>
            <p:nvPr/>
          </p:nvSpPr>
          <p:spPr>
            <a:xfrm>
              <a:off x="0" y="-66675"/>
              <a:ext cx="374063" cy="4242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7"/>
          <p:cNvGrpSpPr/>
          <p:nvPr/>
        </p:nvGrpSpPr>
        <p:grpSpPr>
          <a:xfrm>
            <a:off x="10016140" y="4671982"/>
            <a:ext cx="1420271" cy="1610954"/>
            <a:chOff x="0" y="-66675"/>
            <a:chExt cx="374063" cy="424284"/>
          </a:xfrm>
        </p:grpSpPr>
        <p:sp>
          <p:nvSpPr>
            <p:cNvPr id="256" name="Google Shape;256;p7"/>
            <p:cNvSpPr/>
            <p:nvPr/>
          </p:nvSpPr>
          <p:spPr>
            <a:xfrm>
              <a:off x="0" y="0"/>
              <a:ext cx="374063" cy="357609"/>
            </a:xfrm>
            <a:custGeom>
              <a:rect b="b" l="l" r="r" t="t"/>
              <a:pathLst>
                <a:path extrusionOk="0" h="357609" w="374063">
                  <a:moveTo>
                    <a:pt x="119922" y="0"/>
                  </a:moveTo>
                  <a:lnTo>
                    <a:pt x="254141" y="0"/>
                  </a:lnTo>
                  <a:cubicBezTo>
                    <a:pt x="320372" y="0"/>
                    <a:pt x="374063" y="53691"/>
                    <a:pt x="374063" y="119922"/>
                  </a:cubicBezTo>
                  <a:lnTo>
                    <a:pt x="374063" y="237687"/>
                  </a:lnTo>
                  <a:cubicBezTo>
                    <a:pt x="374063" y="303918"/>
                    <a:pt x="320372" y="357609"/>
                    <a:pt x="254141" y="357609"/>
                  </a:cubicBezTo>
                  <a:lnTo>
                    <a:pt x="119922" y="357609"/>
                  </a:lnTo>
                  <a:cubicBezTo>
                    <a:pt x="53691" y="357609"/>
                    <a:pt x="0" y="303918"/>
                    <a:pt x="0" y="237687"/>
                  </a:cubicBezTo>
                  <a:lnTo>
                    <a:pt x="0" y="119922"/>
                  </a:lnTo>
                  <a:cubicBezTo>
                    <a:pt x="0" y="53691"/>
                    <a:pt x="53691" y="0"/>
                    <a:pt x="119922" y="0"/>
                  </a:cubicBezTo>
                  <a:close/>
                </a:path>
              </a:pathLst>
            </a:custGeom>
            <a:solidFill>
              <a:srgbClr val="5C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7"/>
            <p:cNvSpPr txBox="1"/>
            <p:nvPr/>
          </p:nvSpPr>
          <p:spPr>
            <a:xfrm>
              <a:off x="0" y="-66675"/>
              <a:ext cx="374063" cy="4242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" name="Google Shape;258;p7"/>
          <p:cNvGrpSpPr/>
          <p:nvPr/>
        </p:nvGrpSpPr>
        <p:grpSpPr>
          <a:xfrm>
            <a:off x="10016140" y="6945508"/>
            <a:ext cx="1420271" cy="1610954"/>
            <a:chOff x="0" y="-66675"/>
            <a:chExt cx="374063" cy="424284"/>
          </a:xfrm>
        </p:grpSpPr>
        <p:sp>
          <p:nvSpPr>
            <p:cNvPr id="259" name="Google Shape;259;p7"/>
            <p:cNvSpPr/>
            <p:nvPr/>
          </p:nvSpPr>
          <p:spPr>
            <a:xfrm>
              <a:off x="0" y="0"/>
              <a:ext cx="374063" cy="357609"/>
            </a:xfrm>
            <a:custGeom>
              <a:rect b="b" l="l" r="r" t="t"/>
              <a:pathLst>
                <a:path extrusionOk="0" h="357609" w="374063">
                  <a:moveTo>
                    <a:pt x="119922" y="0"/>
                  </a:moveTo>
                  <a:lnTo>
                    <a:pt x="254141" y="0"/>
                  </a:lnTo>
                  <a:cubicBezTo>
                    <a:pt x="320372" y="0"/>
                    <a:pt x="374063" y="53691"/>
                    <a:pt x="374063" y="119922"/>
                  </a:cubicBezTo>
                  <a:lnTo>
                    <a:pt x="374063" y="237687"/>
                  </a:lnTo>
                  <a:cubicBezTo>
                    <a:pt x="374063" y="303918"/>
                    <a:pt x="320372" y="357609"/>
                    <a:pt x="254141" y="357609"/>
                  </a:cubicBezTo>
                  <a:lnTo>
                    <a:pt x="119922" y="357609"/>
                  </a:lnTo>
                  <a:cubicBezTo>
                    <a:pt x="53691" y="357609"/>
                    <a:pt x="0" y="303918"/>
                    <a:pt x="0" y="237687"/>
                  </a:cubicBezTo>
                  <a:lnTo>
                    <a:pt x="0" y="119922"/>
                  </a:lnTo>
                  <a:cubicBezTo>
                    <a:pt x="0" y="53691"/>
                    <a:pt x="53691" y="0"/>
                    <a:pt x="119922" y="0"/>
                  </a:cubicBezTo>
                  <a:close/>
                </a:path>
              </a:pathLst>
            </a:custGeom>
            <a:solidFill>
              <a:srgbClr val="5C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7"/>
            <p:cNvSpPr txBox="1"/>
            <p:nvPr/>
          </p:nvSpPr>
          <p:spPr>
            <a:xfrm>
              <a:off x="0" y="-66675"/>
              <a:ext cx="374063" cy="4242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7"/>
          <p:cNvSpPr/>
          <p:nvPr/>
        </p:nvSpPr>
        <p:spPr>
          <a:xfrm>
            <a:off x="2985403" y="2631117"/>
            <a:ext cx="6070547" cy="8766133"/>
          </a:xfrm>
          <a:custGeom>
            <a:rect b="b" l="l" r="r" t="t"/>
            <a:pathLst>
              <a:path extrusionOk="0" h="8766133" w="6070547">
                <a:moveTo>
                  <a:pt x="0" y="0"/>
                </a:moveTo>
                <a:lnTo>
                  <a:pt x="6070547" y="0"/>
                </a:lnTo>
                <a:lnTo>
                  <a:pt x="6070547" y="8766133"/>
                </a:lnTo>
                <a:lnTo>
                  <a:pt x="0" y="87661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7"/>
          <p:cNvSpPr/>
          <p:nvPr/>
        </p:nvSpPr>
        <p:spPr>
          <a:xfrm>
            <a:off x="10409382" y="2735194"/>
            <a:ext cx="675092" cy="1223711"/>
          </a:xfrm>
          <a:custGeom>
            <a:rect b="b" l="l" r="r" t="t"/>
            <a:pathLst>
              <a:path extrusionOk="0" h="1223711" w="675092">
                <a:moveTo>
                  <a:pt x="0" y="0"/>
                </a:moveTo>
                <a:lnTo>
                  <a:pt x="675092" y="0"/>
                </a:lnTo>
                <a:lnTo>
                  <a:pt x="675092" y="1223711"/>
                </a:lnTo>
                <a:lnTo>
                  <a:pt x="0" y="1223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7"/>
          <p:cNvSpPr/>
          <p:nvPr/>
        </p:nvSpPr>
        <p:spPr>
          <a:xfrm>
            <a:off x="10275715" y="5128749"/>
            <a:ext cx="844194" cy="928613"/>
          </a:xfrm>
          <a:custGeom>
            <a:rect b="b" l="l" r="r" t="t"/>
            <a:pathLst>
              <a:path extrusionOk="0" h="928613" w="844194">
                <a:moveTo>
                  <a:pt x="0" y="0"/>
                </a:moveTo>
                <a:lnTo>
                  <a:pt x="844194" y="0"/>
                </a:lnTo>
                <a:lnTo>
                  <a:pt x="844194" y="928613"/>
                </a:lnTo>
                <a:lnTo>
                  <a:pt x="0" y="9286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7"/>
          <p:cNvSpPr/>
          <p:nvPr/>
        </p:nvSpPr>
        <p:spPr>
          <a:xfrm>
            <a:off x="10077749" y="7159798"/>
            <a:ext cx="1254446" cy="1245014"/>
          </a:xfrm>
          <a:custGeom>
            <a:rect b="b" l="l" r="r" t="t"/>
            <a:pathLst>
              <a:path extrusionOk="0" h="1245014" w="1254446">
                <a:moveTo>
                  <a:pt x="0" y="0"/>
                </a:moveTo>
                <a:lnTo>
                  <a:pt x="1254445" y="0"/>
                </a:lnTo>
                <a:lnTo>
                  <a:pt x="1254445" y="1245013"/>
                </a:lnTo>
                <a:lnTo>
                  <a:pt x="0" y="12450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7"/>
          <p:cNvSpPr txBox="1"/>
          <p:nvPr/>
        </p:nvSpPr>
        <p:spPr>
          <a:xfrm>
            <a:off x="1376180" y="2324938"/>
            <a:ext cx="7212118" cy="1947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52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Arquitectura Android Frontend</a:t>
            </a:r>
            <a:endParaRPr/>
          </a:p>
        </p:txBody>
      </p:sp>
      <p:sp>
        <p:nvSpPr>
          <p:cNvPr id="266" name="Google Shape;266;p7"/>
          <p:cNvSpPr txBox="1"/>
          <p:nvPr/>
        </p:nvSpPr>
        <p:spPr>
          <a:xfrm>
            <a:off x="11851679" y="2661139"/>
            <a:ext cx="4866925" cy="414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UI LAYER</a:t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>
            <a:off x="11851679" y="4934664"/>
            <a:ext cx="4248626" cy="414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DOMAIN LAYER</a:t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11851679" y="7208190"/>
            <a:ext cx="4549003" cy="414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DATA LAYER</a:t>
            </a:r>
            <a:endParaRPr/>
          </a:p>
        </p:txBody>
      </p:sp>
      <p:sp>
        <p:nvSpPr>
          <p:cNvPr id="269" name="Google Shape;269;p7"/>
          <p:cNvSpPr txBox="1"/>
          <p:nvPr/>
        </p:nvSpPr>
        <p:spPr>
          <a:xfrm>
            <a:off x="11856797" y="3236691"/>
            <a:ext cx="4861807" cy="772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Jetpack Compose observando ViewModel para UI reactiva declarativa.</a:t>
            </a:r>
            <a:endParaRPr/>
          </a:p>
        </p:txBody>
      </p:sp>
      <p:sp>
        <p:nvSpPr>
          <p:cNvPr id="270" name="Google Shape;270;p7"/>
          <p:cNvSpPr txBox="1"/>
          <p:nvPr/>
        </p:nvSpPr>
        <p:spPr>
          <a:xfrm>
            <a:off x="11856797" y="5510217"/>
            <a:ext cx="4861807" cy="772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Lógica de negocio independiente y casos de uso desacoplados.</a:t>
            </a:r>
            <a:endParaRPr/>
          </a:p>
        </p:txBody>
      </p:sp>
      <p:sp>
        <p:nvSpPr>
          <p:cNvPr id="271" name="Google Shape;271;p7"/>
          <p:cNvSpPr txBox="1"/>
          <p:nvPr/>
        </p:nvSpPr>
        <p:spPr>
          <a:xfrm>
            <a:off x="11856797" y="7783742"/>
            <a:ext cx="4861807" cy="772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Repositorios para Room (local) y Retrofit (remoto).</a:t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15722836" y="9258300"/>
            <a:ext cx="2565164" cy="932787"/>
          </a:xfrm>
          <a:custGeom>
            <a:rect b="b" l="l" r="r" t="t"/>
            <a:pathLst>
              <a:path extrusionOk="0" h="932787" w="2565164">
                <a:moveTo>
                  <a:pt x="0" y="0"/>
                </a:moveTo>
                <a:lnTo>
                  <a:pt x="2565164" y="0"/>
                </a:lnTo>
                <a:lnTo>
                  <a:pt x="2565164" y="932787"/>
                </a:lnTo>
                <a:lnTo>
                  <a:pt x="0" y="932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7"/>
          <p:cNvSpPr txBox="1"/>
          <p:nvPr/>
        </p:nvSpPr>
        <p:spPr>
          <a:xfrm>
            <a:off x="1476035" y="579568"/>
            <a:ext cx="1661759" cy="382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FarmaCode</a:t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-3194478" y="4770102"/>
            <a:ext cx="8183623" cy="8183623"/>
          </a:xfrm>
          <a:custGeom>
            <a:rect b="b" l="l" r="r" t="t"/>
            <a:pathLst>
              <a:path extrusionOk="0" h="8183623" w="8183623">
                <a:moveTo>
                  <a:pt x="0" y="0"/>
                </a:moveTo>
                <a:lnTo>
                  <a:pt x="8183623" y="0"/>
                </a:lnTo>
                <a:lnTo>
                  <a:pt x="8183623" y="8183623"/>
                </a:lnTo>
                <a:lnTo>
                  <a:pt x="0" y="8183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30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"/>
          <p:cNvSpPr/>
          <p:nvPr/>
        </p:nvSpPr>
        <p:spPr>
          <a:xfrm>
            <a:off x="12693084" y="-2749173"/>
            <a:ext cx="8183623" cy="8183623"/>
          </a:xfrm>
          <a:custGeom>
            <a:rect b="b" l="l" r="r" t="t"/>
            <a:pathLst>
              <a:path extrusionOk="0" h="8183623" w="8183623">
                <a:moveTo>
                  <a:pt x="0" y="0"/>
                </a:moveTo>
                <a:lnTo>
                  <a:pt x="8183623" y="0"/>
                </a:lnTo>
                <a:lnTo>
                  <a:pt x="8183623" y="8183623"/>
                </a:lnTo>
                <a:lnTo>
                  <a:pt x="0" y="8183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0" name="Google Shape;280;p8"/>
          <p:cNvGrpSpPr/>
          <p:nvPr/>
        </p:nvGrpSpPr>
        <p:grpSpPr>
          <a:xfrm>
            <a:off x="10265327" y="3983742"/>
            <a:ext cx="6322987" cy="1335469"/>
            <a:chOff x="0" y="-66675"/>
            <a:chExt cx="1665314" cy="351729"/>
          </a:xfrm>
        </p:grpSpPr>
        <p:sp>
          <p:nvSpPr>
            <p:cNvPr id="281" name="Google Shape;281;p8"/>
            <p:cNvSpPr/>
            <p:nvPr/>
          </p:nvSpPr>
          <p:spPr>
            <a:xfrm>
              <a:off x="0" y="0"/>
              <a:ext cx="1665313" cy="285054"/>
            </a:xfrm>
            <a:custGeom>
              <a:rect b="b" l="l" r="r" t="t"/>
              <a:pathLst>
                <a:path extrusionOk="0" h="285054" w="1665313">
                  <a:moveTo>
                    <a:pt x="122441" y="0"/>
                  </a:moveTo>
                  <a:lnTo>
                    <a:pt x="1542873" y="0"/>
                  </a:lnTo>
                  <a:cubicBezTo>
                    <a:pt x="1610495" y="0"/>
                    <a:pt x="1665313" y="54819"/>
                    <a:pt x="1665313" y="122441"/>
                  </a:cubicBezTo>
                  <a:lnTo>
                    <a:pt x="1665313" y="162613"/>
                  </a:lnTo>
                  <a:cubicBezTo>
                    <a:pt x="1665313" y="230235"/>
                    <a:pt x="1610495" y="285054"/>
                    <a:pt x="1542873" y="285054"/>
                  </a:cubicBezTo>
                  <a:lnTo>
                    <a:pt x="122441" y="285054"/>
                  </a:lnTo>
                  <a:cubicBezTo>
                    <a:pt x="54819" y="285054"/>
                    <a:pt x="0" y="230235"/>
                    <a:pt x="0" y="162613"/>
                  </a:cubicBezTo>
                  <a:lnTo>
                    <a:pt x="0" y="122441"/>
                  </a:lnTo>
                  <a:cubicBezTo>
                    <a:pt x="0" y="54819"/>
                    <a:pt x="54819" y="0"/>
                    <a:pt x="122441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8"/>
            <p:cNvSpPr txBox="1"/>
            <p:nvPr/>
          </p:nvSpPr>
          <p:spPr>
            <a:xfrm>
              <a:off x="0" y="-66675"/>
              <a:ext cx="1665314" cy="351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8"/>
          <p:cNvGrpSpPr/>
          <p:nvPr/>
        </p:nvGrpSpPr>
        <p:grpSpPr>
          <a:xfrm>
            <a:off x="10265327" y="5551830"/>
            <a:ext cx="6322987" cy="1335469"/>
            <a:chOff x="0" y="-66675"/>
            <a:chExt cx="1665314" cy="351729"/>
          </a:xfrm>
        </p:grpSpPr>
        <p:sp>
          <p:nvSpPr>
            <p:cNvPr id="284" name="Google Shape;284;p8"/>
            <p:cNvSpPr/>
            <p:nvPr/>
          </p:nvSpPr>
          <p:spPr>
            <a:xfrm>
              <a:off x="0" y="0"/>
              <a:ext cx="1665313" cy="285054"/>
            </a:xfrm>
            <a:custGeom>
              <a:rect b="b" l="l" r="r" t="t"/>
              <a:pathLst>
                <a:path extrusionOk="0" h="285054" w="1665313">
                  <a:moveTo>
                    <a:pt x="122441" y="0"/>
                  </a:moveTo>
                  <a:lnTo>
                    <a:pt x="1542873" y="0"/>
                  </a:lnTo>
                  <a:cubicBezTo>
                    <a:pt x="1610495" y="0"/>
                    <a:pt x="1665313" y="54819"/>
                    <a:pt x="1665313" y="122441"/>
                  </a:cubicBezTo>
                  <a:lnTo>
                    <a:pt x="1665313" y="162613"/>
                  </a:lnTo>
                  <a:cubicBezTo>
                    <a:pt x="1665313" y="230235"/>
                    <a:pt x="1610495" y="285054"/>
                    <a:pt x="1542873" y="285054"/>
                  </a:cubicBezTo>
                  <a:lnTo>
                    <a:pt x="122441" y="285054"/>
                  </a:lnTo>
                  <a:cubicBezTo>
                    <a:pt x="54819" y="285054"/>
                    <a:pt x="0" y="230235"/>
                    <a:pt x="0" y="162613"/>
                  </a:cubicBezTo>
                  <a:lnTo>
                    <a:pt x="0" y="122441"/>
                  </a:lnTo>
                  <a:cubicBezTo>
                    <a:pt x="0" y="54819"/>
                    <a:pt x="54819" y="0"/>
                    <a:pt x="122441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8"/>
            <p:cNvSpPr txBox="1"/>
            <p:nvPr/>
          </p:nvSpPr>
          <p:spPr>
            <a:xfrm>
              <a:off x="0" y="-66675"/>
              <a:ext cx="1665314" cy="351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8"/>
          <p:cNvGrpSpPr/>
          <p:nvPr/>
        </p:nvGrpSpPr>
        <p:grpSpPr>
          <a:xfrm>
            <a:off x="10265327" y="7119917"/>
            <a:ext cx="6322987" cy="1335469"/>
            <a:chOff x="0" y="-66675"/>
            <a:chExt cx="1665314" cy="351729"/>
          </a:xfrm>
        </p:grpSpPr>
        <p:sp>
          <p:nvSpPr>
            <p:cNvPr id="287" name="Google Shape;287;p8"/>
            <p:cNvSpPr/>
            <p:nvPr/>
          </p:nvSpPr>
          <p:spPr>
            <a:xfrm>
              <a:off x="0" y="0"/>
              <a:ext cx="1665313" cy="285054"/>
            </a:xfrm>
            <a:custGeom>
              <a:rect b="b" l="l" r="r" t="t"/>
              <a:pathLst>
                <a:path extrusionOk="0" h="285054" w="1665313">
                  <a:moveTo>
                    <a:pt x="122441" y="0"/>
                  </a:moveTo>
                  <a:lnTo>
                    <a:pt x="1542873" y="0"/>
                  </a:lnTo>
                  <a:cubicBezTo>
                    <a:pt x="1610495" y="0"/>
                    <a:pt x="1665313" y="54819"/>
                    <a:pt x="1665313" y="122441"/>
                  </a:cubicBezTo>
                  <a:lnTo>
                    <a:pt x="1665313" y="162613"/>
                  </a:lnTo>
                  <a:cubicBezTo>
                    <a:pt x="1665313" y="230235"/>
                    <a:pt x="1610495" y="285054"/>
                    <a:pt x="1542873" y="285054"/>
                  </a:cubicBezTo>
                  <a:lnTo>
                    <a:pt x="122441" y="285054"/>
                  </a:lnTo>
                  <a:cubicBezTo>
                    <a:pt x="54819" y="285054"/>
                    <a:pt x="0" y="230235"/>
                    <a:pt x="0" y="162613"/>
                  </a:cubicBezTo>
                  <a:lnTo>
                    <a:pt x="0" y="122441"/>
                  </a:lnTo>
                  <a:cubicBezTo>
                    <a:pt x="0" y="54819"/>
                    <a:pt x="54819" y="0"/>
                    <a:pt x="122441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8"/>
            <p:cNvSpPr txBox="1"/>
            <p:nvPr/>
          </p:nvSpPr>
          <p:spPr>
            <a:xfrm>
              <a:off x="0" y="-66675"/>
              <a:ext cx="1665314" cy="351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8"/>
          <p:cNvGrpSpPr/>
          <p:nvPr/>
        </p:nvGrpSpPr>
        <p:grpSpPr>
          <a:xfrm>
            <a:off x="10265302" y="2415654"/>
            <a:ext cx="6323031" cy="1335480"/>
            <a:chOff x="0" y="-66675"/>
            <a:chExt cx="1665314" cy="351729"/>
          </a:xfrm>
        </p:grpSpPr>
        <p:sp>
          <p:nvSpPr>
            <p:cNvPr id="290" name="Google Shape;290;p8"/>
            <p:cNvSpPr/>
            <p:nvPr/>
          </p:nvSpPr>
          <p:spPr>
            <a:xfrm>
              <a:off x="0" y="0"/>
              <a:ext cx="1665313" cy="285054"/>
            </a:xfrm>
            <a:custGeom>
              <a:rect b="b" l="l" r="r" t="t"/>
              <a:pathLst>
                <a:path extrusionOk="0" h="285054" w="1665313">
                  <a:moveTo>
                    <a:pt x="122441" y="0"/>
                  </a:moveTo>
                  <a:lnTo>
                    <a:pt x="1542873" y="0"/>
                  </a:lnTo>
                  <a:cubicBezTo>
                    <a:pt x="1610495" y="0"/>
                    <a:pt x="1665313" y="54819"/>
                    <a:pt x="1665313" y="122441"/>
                  </a:cubicBezTo>
                  <a:lnTo>
                    <a:pt x="1665313" y="162613"/>
                  </a:lnTo>
                  <a:cubicBezTo>
                    <a:pt x="1665313" y="230235"/>
                    <a:pt x="1610495" y="285054"/>
                    <a:pt x="1542873" y="285054"/>
                  </a:cubicBezTo>
                  <a:lnTo>
                    <a:pt x="122441" y="285054"/>
                  </a:lnTo>
                  <a:cubicBezTo>
                    <a:pt x="54819" y="285054"/>
                    <a:pt x="0" y="230235"/>
                    <a:pt x="0" y="162613"/>
                  </a:cubicBezTo>
                  <a:lnTo>
                    <a:pt x="0" y="122441"/>
                  </a:lnTo>
                  <a:cubicBezTo>
                    <a:pt x="0" y="54819"/>
                    <a:pt x="54819" y="0"/>
                    <a:pt x="122441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8"/>
            <p:cNvSpPr txBox="1"/>
            <p:nvPr/>
          </p:nvSpPr>
          <p:spPr>
            <a:xfrm>
              <a:off x="0" y="-66675"/>
              <a:ext cx="1665314" cy="351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p8"/>
          <p:cNvSpPr/>
          <p:nvPr/>
        </p:nvSpPr>
        <p:spPr>
          <a:xfrm>
            <a:off x="835402" y="664269"/>
            <a:ext cx="460249" cy="575311"/>
          </a:xfrm>
          <a:custGeom>
            <a:rect b="b" l="l" r="r" t="t"/>
            <a:pathLst>
              <a:path extrusionOk="0" h="575311" w="460249">
                <a:moveTo>
                  <a:pt x="0" y="0"/>
                </a:moveTo>
                <a:lnTo>
                  <a:pt x="460248" y="0"/>
                </a:lnTo>
                <a:lnTo>
                  <a:pt x="460248" y="575311"/>
                </a:lnTo>
                <a:lnTo>
                  <a:pt x="0" y="575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3" name="Google Shape;293;p8"/>
          <p:cNvSpPr/>
          <p:nvPr/>
        </p:nvSpPr>
        <p:spPr>
          <a:xfrm>
            <a:off x="1295650" y="5482231"/>
            <a:ext cx="7400235" cy="4863998"/>
          </a:xfrm>
          <a:custGeom>
            <a:rect b="b" l="l" r="r" t="t"/>
            <a:pathLst>
              <a:path extrusionOk="0" h="753561" w="1146490">
                <a:moveTo>
                  <a:pt x="0" y="0"/>
                </a:moveTo>
                <a:lnTo>
                  <a:pt x="1146490" y="0"/>
                </a:lnTo>
                <a:lnTo>
                  <a:pt x="1146490" y="753561"/>
                </a:lnTo>
                <a:lnTo>
                  <a:pt x="0" y="75356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53" l="0" r="0" t="-1253"/>
            </a:stretch>
          </a:blipFill>
          <a:ln>
            <a:noFill/>
          </a:ln>
        </p:spPr>
      </p:sp>
      <p:sp>
        <p:nvSpPr>
          <p:cNvPr id="294" name="Google Shape;294;p8"/>
          <p:cNvSpPr txBox="1"/>
          <p:nvPr/>
        </p:nvSpPr>
        <p:spPr>
          <a:xfrm>
            <a:off x="1295650" y="2432786"/>
            <a:ext cx="8969676" cy="1919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1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Arquitectura Backend Microservicios</a:t>
            </a:r>
            <a:endParaRPr/>
          </a:p>
        </p:txBody>
      </p:sp>
      <p:sp>
        <p:nvSpPr>
          <p:cNvPr id="295" name="Google Shape;295;p8"/>
          <p:cNvSpPr txBox="1"/>
          <p:nvPr/>
        </p:nvSpPr>
        <p:spPr>
          <a:xfrm>
            <a:off x="11722938" y="4560884"/>
            <a:ext cx="4508065" cy="306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9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SERVICE: LÓGICA DE NEGOCIO</a:t>
            </a:r>
            <a:endParaRPr/>
          </a:p>
        </p:txBody>
      </p:sp>
      <p:sp>
        <p:nvSpPr>
          <p:cNvPr id="296" name="Google Shape;296;p8"/>
          <p:cNvSpPr txBox="1"/>
          <p:nvPr/>
        </p:nvSpPr>
        <p:spPr>
          <a:xfrm>
            <a:off x="11722938" y="6119447"/>
            <a:ext cx="4508065" cy="315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1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REPOSITORY: ACCESO A DATOS</a:t>
            </a:r>
            <a:endParaRPr/>
          </a:p>
        </p:txBody>
      </p:sp>
      <p:sp>
        <p:nvSpPr>
          <p:cNvPr id="297" name="Google Shape;297;p8"/>
          <p:cNvSpPr txBox="1"/>
          <p:nvPr/>
        </p:nvSpPr>
        <p:spPr>
          <a:xfrm>
            <a:off x="11722938" y="7687535"/>
            <a:ext cx="4508065" cy="344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8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DOMAIN: ENTIDADES MYSQL</a:t>
            </a:r>
            <a:endParaRPr/>
          </a:p>
        </p:txBody>
      </p:sp>
      <p:sp>
        <p:nvSpPr>
          <p:cNvPr id="298" name="Google Shape;298;p8"/>
          <p:cNvSpPr txBox="1"/>
          <p:nvPr/>
        </p:nvSpPr>
        <p:spPr>
          <a:xfrm>
            <a:off x="11722938" y="2989999"/>
            <a:ext cx="4508065" cy="29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65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CONTROLLER: ENDPOINTS REST</a:t>
            </a:r>
            <a:endParaRPr/>
          </a:p>
        </p:txBody>
      </p:sp>
      <p:grpSp>
        <p:nvGrpSpPr>
          <p:cNvPr id="299" name="Google Shape;299;p8"/>
          <p:cNvGrpSpPr/>
          <p:nvPr/>
        </p:nvGrpSpPr>
        <p:grpSpPr>
          <a:xfrm>
            <a:off x="10265327" y="2415654"/>
            <a:ext cx="1082040" cy="1335469"/>
            <a:chOff x="0" y="-66675"/>
            <a:chExt cx="284982" cy="351729"/>
          </a:xfrm>
        </p:grpSpPr>
        <p:sp>
          <p:nvSpPr>
            <p:cNvPr id="300" name="Google Shape;300;p8"/>
            <p:cNvSpPr/>
            <p:nvPr/>
          </p:nvSpPr>
          <p:spPr>
            <a:xfrm>
              <a:off x="0" y="0"/>
              <a:ext cx="284982" cy="285054"/>
            </a:xfrm>
            <a:custGeom>
              <a:rect b="b" l="l" r="r" t="t"/>
              <a:pathLst>
                <a:path extrusionOk="0" h="285054" w="284982">
                  <a:moveTo>
                    <a:pt x="142491" y="0"/>
                  </a:moveTo>
                  <a:lnTo>
                    <a:pt x="142491" y="0"/>
                  </a:lnTo>
                  <a:cubicBezTo>
                    <a:pt x="221186" y="0"/>
                    <a:pt x="284982" y="63795"/>
                    <a:pt x="284982" y="142491"/>
                  </a:cubicBezTo>
                  <a:lnTo>
                    <a:pt x="284982" y="142563"/>
                  </a:lnTo>
                  <a:cubicBezTo>
                    <a:pt x="284982" y="221258"/>
                    <a:pt x="221186" y="285054"/>
                    <a:pt x="142491" y="285054"/>
                  </a:cubicBezTo>
                  <a:lnTo>
                    <a:pt x="142491" y="285054"/>
                  </a:lnTo>
                  <a:cubicBezTo>
                    <a:pt x="63795" y="285054"/>
                    <a:pt x="0" y="221258"/>
                    <a:pt x="0" y="142563"/>
                  </a:cubicBezTo>
                  <a:lnTo>
                    <a:pt x="0" y="142491"/>
                  </a:lnTo>
                  <a:cubicBezTo>
                    <a:pt x="0" y="63795"/>
                    <a:pt x="63795" y="0"/>
                    <a:pt x="142491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8"/>
            <p:cNvSpPr txBox="1"/>
            <p:nvPr/>
          </p:nvSpPr>
          <p:spPr>
            <a:xfrm>
              <a:off x="0" y="-66675"/>
              <a:ext cx="284982" cy="351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8"/>
          <p:cNvSpPr txBox="1"/>
          <p:nvPr/>
        </p:nvSpPr>
        <p:spPr>
          <a:xfrm>
            <a:off x="10265327" y="2989999"/>
            <a:ext cx="1082040" cy="375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3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01.</a:t>
            </a:r>
            <a:endParaRPr/>
          </a:p>
        </p:txBody>
      </p:sp>
      <p:grpSp>
        <p:nvGrpSpPr>
          <p:cNvPr id="303" name="Google Shape;303;p8"/>
          <p:cNvGrpSpPr/>
          <p:nvPr/>
        </p:nvGrpSpPr>
        <p:grpSpPr>
          <a:xfrm>
            <a:off x="10265327" y="3983742"/>
            <a:ext cx="1082040" cy="1335469"/>
            <a:chOff x="0" y="-66675"/>
            <a:chExt cx="284982" cy="351729"/>
          </a:xfrm>
        </p:grpSpPr>
        <p:sp>
          <p:nvSpPr>
            <p:cNvPr id="304" name="Google Shape;304;p8"/>
            <p:cNvSpPr/>
            <p:nvPr/>
          </p:nvSpPr>
          <p:spPr>
            <a:xfrm>
              <a:off x="0" y="0"/>
              <a:ext cx="284982" cy="285054"/>
            </a:xfrm>
            <a:custGeom>
              <a:rect b="b" l="l" r="r" t="t"/>
              <a:pathLst>
                <a:path extrusionOk="0" h="285054" w="284982">
                  <a:moveTo>
                    <a:pt x="142491" y="0"/>
                  </a:moveTo>
                  <a:lnTo>
                    <a:pt x="142491" y="0"/>
                  </a:lnTo>
                  <a:cubicBezTo>
                    <a:pt x="221186" y="0"/>
                    <a:pt x="284982" y="63795"/>
                    <a:pt x="284982" y="142491"/>
                  </a:cubicBezTo>
                  <a:lnTo>
                    <a:pt x="284982" y="142563"/>
                  </a:lnTo>
                  <a:cubicBezTo>
                    <a:pt x="284982" y="221258"/>
                    <a:pt x="221186" y="285054"/>
                    <a:pt x="142491" y="285054"/>
                  </a:cubicBezTo>
                  <a:lnTo>
                    <a:pt x="142491" y="285054"/>
                  </a:lnTo>
                  <a:cubicBezTo>
                    <a:pt x="63795" y="285054"/>
                    <a:pt x="0" y="221258"/>
                    <a:pt x="0" y="142563"/>
                  </a:cubicBezTo>
                  <a:lnTo>
                    <a:pt x="0" y="142491"/>
                  </a:lnTo>
                  <a:cubicBezTo>
                    <a:pt x="0" y="63795"/>
                    <a:pt x="63795" y="0"/>
                    <a:pt x="142491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8"/>
            <p:cNvSpPr txBox="1"/>
            <p:nvPr/>
          </p:nvSpPr>
          <p:spPr>
            <a:xfrm>
              <a:off x="0" y="-66675"/>
              <a:ext cx="284982" cy="351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6" name="Google Shape;306;p8"/>
          <p:cNvSpPr txBox="1"/>
          <p:nvPr/>
        </p:nvSpPr>
        <p:spPr>
          <a:xfrm>
            <a:off x="10265327" y="4558086"/>
            <a:ext cx="1082040" cy="375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3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02.</a:t>
            </a:r>
            <a:endParaRPr/>
          </a:p>
        </p:txBody>
      </p:sp>
      <p:grpSp>
        <p:nvGrpSpPr>
          <p:cNvPr id="307" name="Google Shape;307;p8"/>
          <p:cNvGrpSpPr/>
          <p:nvPr/>
        </p:nvGrpSpPr>
        <p:grpSpPr>
          <a:xfrm>
            <a:off x="10265327" y="5551830"/>
            <a:ext cx="1082040" cy="1335469"/>
            <a:chOff x="0" y="-66675"/>
            <a:chExt cx="284982" cy="351729"/>
          </a:xfrm>
        </p:grpSpPr>
        <p:sp>
          <p:nvSpPr>
            <p:cNvPr id="308" name="Google Shape;308;p8"/>
            <p:cNvSpPr/>
            <p:nvPr/>
          </p:nvSpPr>
          <p:spPr>
            <a:xfrm>
              <a:off x="0" y="0"/>
              <a:ext cx="284982" cy="285054"/>
            </a:xfrm>
            <a:custGeom>
              <a:rect b="b" l="l" r="r" t="t"/>
              <a:pathLst>
                <a:path extrusionOk="0" h="285054" w="284982">
                  <a:moveTo>
                    <a:pt x="142491" y="0"/>
                  </a:moveTo>
                  <a:lnTo>
                    <a:pt x="142491" y="0"/>
                  </a:lnTo>
                  <a:cubicBezTo>
                    <a:pt x="221186" y="0"/>
                    <a:pt x="284982" y="63795"/>
                    <a:pt x="284982" y="142491"/>
                  </a:cubicBezTo>
                  <a:lnTo>
                    <a:pt x="284982" y="142563"/>
                  </a:lnTo>
                  <a:cubicBezTo>
                    <a:pt x="284982" y="221258"/>
                    <a:pt x="221186" y="285054"/>
                    <a:pt x="142491" y="285054"/>
                  </a:cubicBezTo>
                  <a:lnTo>
                    <a:pt x="142491" y="285054"/>
                  </a:lnTo>
                  <a:cubicBezTo>
                    <a:pt x="63795" y="285054"/>
                    <a:pt x="0" y="221258"/>
                    <a:pt x="0" y="142563"/>
                  </a:cubicBezTo>
                  <a:lnTo>
                    <a:pt x="0" y="142491"/>
                  </a:lnTo>
                  <a:cubicBezTo>
                    <a:pt x="0" y="63795"/>
                    <a:pt x="63795" y="0"/>
                    <a:pt x="142491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8"/>
            <p:cNvSpPr txBox="1"/>
            <p:nvPr/>
          </p:nvSpPr>
          <p:spPr>
            <a:xfrm>
              <a:off x="0" y="-66675"/>
              <a:ext cx="284982" cy="351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" name="Google Shape;310;p8"/>
          <p:cNvSpPr txBox="1"/>
          <p:nvPr/>
        </p:nvSpPr>
        <p:spPr>
          <a:xfrm>
            <a:off x="10265327" y="6126174"/>
            <a:ext cx="1082040" cy="375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3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03.</a:t>
            </a:r>
            <a:endParaRPr/>
          </a:p>
        </p:txBody>
      </p:sp>
      <p:grpSp>
        <p:nvGrpSpPr>
          <p:cNvPr id="311" name="Google Shape;311;p8"/>
          <p:cNvGrpSpPr/>
          <p:nvPr/>
        </p:nvGrpSpPr>
        <p:grpSpPr>
          <a:xfrm>
            <a:off x="10265327" y="7119917"/>
            <a:ext cx="1082040" cy="1335469"/>
            <a:chOff x="0" y="-66675"/>
            <a:chExt cx="284982" cy="351729"/>
          </a:xfrm>
        </p:grpSpPr>
        <p:sp>
          <p:nvSpPr>
            <p:cNvPr id="312" name="Google Shape;312;p8"/>
            <p:cNvSpPr/>
            <p:nvPr/>
          </p:nvSpPr>
          <p:spPr>
            <a:xfrm>
              <a:off x="0" y="0"/>
              <a:ext cx="284982" cy="285054"/>
            </a:xfrm>
            <a:custGeom>
              <a:rect b="b" l="l" r="r" t="t"/>
              <a:pathLst>
                <a:path extrusionOk="0" h="285054" w="284982">
                  <a:moveTo>
                    <a:pt x="142491" y="0"/>
                  </a:moveTo>
                  <a:lnTo>
                    <a:pt x="142491" y="0"/>
                  </a:lnTo>
                  <a:cubicBezTo>
                    <a:pt x="221186" y="0"/>
                    <a:pt x="284982" y="63795"/>
                    <a:pt x="284982" y="142491"/>
                  </a:cubicBezTo>
                  <a:lnTo>
                    <a:pt x="284982" y="142563"/>
                  </a:lnTo>
                  <a:cubicBezTo>
                    <a:pt x="284982" y="221258"/>
                    <a:pt x="221186" y="285054"/>
                    <a:pt x="142491" y="285054"/>
                  </a:cubicBezTo>
                  <a:lnTo>
                    <a:pt x="142491" y="285054"/>
                  </a:lnTo>
                  <a:cubicBezTo>
                    <a:pt x="63795" y="285054"/>
                    <a:pt x="0" y="221258"/>
                    <a:pt x="0" y="142563"/>
                  </a:cubicBezTo>
                  <a:lnTo>
                    <a:pt x="0" y="142491"/>
                  </a:lnTo>
                  <a:cubicBezTo>
                    <a:pt x="0" y="63795"/>
                    <a:pt x="63795" y="0"/>
                    <a:pt x="142491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8"/>
            <p:cNvSpPr txBox="1"/>
            <p:nvPr/>
          </p:nvSpPr>
          <p:spPr>
            <a:xfrm>
              <a:off x="0" y="-66675"/>
              <a:ext cx="284982" cy="351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" name="Google Shape;314;p8"/>
          <p:cNvSpPr txBox="1"/>
          <p:nvPr/>
        </p:nvSpPr>
        <p:spPr>
          <a:xfrm>
            <a:off x="10265327" y="7694262"/>
            <a:ext cx="1082040" cy="375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3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04.</a:t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15722836" y="9258300"/>
            <a:ext cx="2565164" cy="932787"/>
          </a:xfrm>
          <a:custGeom>
            <a:rect b="b" l="l" r="r" t="t"/>
            <a:pathLst>
              <a:path extrusionOk="0" h="932787" w="2565164">
                <a:moveTo>
                  <a:pt x="0" y="0"/>
                </a:moveTo>
                <a:lnTo>
                  <a:pt x="2565164" y="0"/>
                </a:lnTo>
                <a:lnTo>
                  <a:pt x="2565164" y="932787"/>
                </a:lnTo>
                <a:lnTo>
                  <a:pt x="0" y="932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6" name="Google Shape;316;p8"/>
          <p:cNvSpPr txBox="1"/>
          <p:nvPr/>
        </p:nvSpPr>
        <p:spPr>
          <a:xfrm>
            <a:off x="1476035" y="579568"/>
            <a:ext cx="1661759" cy="382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FarmaCode</a:t>
            </a:r>
            <a:endParaRPr/>
          </a:p>
        </p:txBody>
      </p:sp>
      <p:grpSp>
        <p:nvGrpSpPr>
          <p:cNvPr id="317" name="Google Shape;317;p8"/>
          <p:cNvGrpSpPr/>
          <p:nvPr/>
        </p:nvGrpSpPr>
        <p:grpSpPr>
          <a:xfrm>
            <a:off x="10473477" y="8687990"/>
            <a:ext cx="6323027" cy="1335480"/>
            <a:chOff x="0" y="-66675"/>
            <a:chExt cx="1665313" cy="351729"/>
          </a:xfrm>
        </p:grpSpPr>
        <p:sp>
          <p:nvSpPr>
            <p:cNvPr id="318" name="Google Shape;318;p8"/>
            <p:cNvSpPr/>
            <p:nvPr/>
          </p:nvSpPr>
          <p:spPr>
            <a:xfrm>
              <a:off x="0" y="0"/>
              <a:ext cx="1665313" cy="285054"/>
            </a:xfrm>
            <a:custGeom>
              <a:rect b="b" l="l" r="r" t="t"/>
              <a:pathLst>
                <a:path extrusionOk="0" h="285054" w="1665313">
                  <a:moveTo>
                    <a:pt x="122441" y="0"/>
                  </a:moveTo>
                  <a:lnTo>
                    <a:pt x="1542873" y="0"/>
                  </a:lnTo>
                  <a:cubicBezTo>
                    <a:pt x="1610495" y="0"/>
                    <a:pt x="1665313" y="54819"/>
                    <a:pt x="1665313" y="122441"/>
                  </a:cubicBezTo>
                  <a:lnTo>
                    <a:pt x="1665313" y="162613"/>
                  </a:lnTo>
                  <a:cubicBezTo>
                    <a:pt x="1665313" y="230235"/>
                    <a:pt x="1610495" y="285054"/>
                    <a:pt x="1542873" y="285054"/>
                  </a:cubicBezTo>
                  <a:lnTo>
                    <a:pt x="122441" y="285054"/>
                  </a:lnTo>
                  <a:cubicBezTo>
                    <a:pt x="54819" y="285054"/>
                    <a:pt x="0" y="230235"/>
                    <a:pt x="0" y="162613"/>
                  </a:cubicBezTo>
                  <a:lnTo>
                    <a:pt x="0" y="122441"/>
                  </a:lnTo>
                  <a:cubicBezTo>
                    <a:pt x="0" y="54819"/>
                    <a:pt x="54819" y="0"/>
                    <a:pt x="122441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8"/>
            <p:cNvSpPr txBox="1"/>
            <p:nvPr/>
          </p:nvSpPr>
          <p:spPr>
            <a:xfrm>
              <a:off x="0" y="-66675"/>
              <a:ext cx="1665300" cy="35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0" name="Google Shape;320;p8"/>
          <p:cNvSpPr txBox="1"/>
          <p:nvPr/>
        </p:nvSpPr>
        <p:spPr>
          <a:xfrm>
            <a:off x="10742350" y="9175900"/>
            <a:ext cx="1082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05.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 txBox="1"/>
          <p:nvPr/>
        </p:nvSpPr>
        <p:spPr>
          <a:xfrm>
            <a:off x="11722950" y="8917375"/>
            <a:ext cx="4623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DTO: TRANSFERENCIA Y MODELADO DE DATOS</a:t>
            </a:r>
            <a:endParaRPr b="1" sz="2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30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"/>
          <p:cNvSpPr/>
          <p:nvPr/>
        </p:nvSpPr>
        <p:spPr>
          <a:xfrm>
            <a:off x="15722836" y="9258300"/>
            <a:ext cx="2565164" cy="932787"/>
          </a:xfrm>
          <a:custGeom>
            <a:rect b="b" l="l" r="r" t="t"/>
            <a:pathLst>
              <a:path extrusionOk="0" h="932787" w="2565164">
                <a:moveTo>
                  <a:pt x="0" y="0"/>
                </a:moveTo>
                <a:lnTo>
                  <a:pt x="2565164" y="0"/>
                </a:lnTo>
                <a:lnTo>
                  <a:pt x="2565164" y="932787"/>
                </a:lnTo>
                <a:lnTo>
                  <a:pt x="0" y="932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7" name="Google Shape;327;p9"/>
          <p:cNvSpPr/>
          <p:nvPr/>
        </p:nvSpPr>
        <p:spPr>
          <a:xfrm>
            <a:off x="1356736" y="5142601"/>
            <a:ext cx="1238470" cy="825131"/>
          </a:xfrm>
          <a:custGeom>
            <a:rect b="b" l="l" r="r" t="t"/>
            <a:pathLst>
              <a:path extrusionOk="0" h="825131" w="1238470">
                <a:moveTo>
                  <a:pt x="0" y="0"/>
                </a:moveTo>
                <a:lnTo>
                  <a:pt x="1238470" y="0"/>
                </a:lnTo>
                <a:lnTo>
                  <a:pt x="1238470" y="825131"/>
                </a:lnTo>
                <a:lnTo>
                  <a:pt x="0" y="825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8" name="Google Shape;328;p9"/>
          <p:cNvSpPr/>
          <p:nvPr/>
        </p:nvSpPr>
        <p:spPr>
          <a:xfrm>
            <a:off x="1559878" y="6427168"/>
            <a:ext cx="832186" cy="696871"/>
          </a:xfrm>
          <a:custGeom>
            <a:rect b="b" l="l" r="r" t="t"/>
            <a:pathLst>
              <a:path extrusionOk="0" h="696871" w="832186">
                <a:moveTo>
                  <a:pt x="0" y="0"/>
                </a:moveTo>
                <a:lnTo>
                  <a:pt x="832186" y="0"/>
                </a:lnTo>
                <a:lnTo>
                  <a:pt x="832186" y="696871"/>
                </a:lnTo>
                <a:lnTo>
                  <a:pt x="0" y="6968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9"/>
          <p:cNvSpPr/>
          <p:nvPr/>
        </p:nvSpPr>
        <p:spPr>
          <a:xfrm>
            <a:off x="6269507" y="4994758"/>
            <a:ext cx="1443266" cy="961576"/>
          </a:xfrm>
          <a:custGeom>
            <a:rect b="b" l="l" r="r" t="t"/>
            <a:pathLst>
              <a:path extrusionOk="0" h="961576" w="1443266">
                <a:moveTo>
                  <a:pt x="0" y="0"/>
                </a:moveTo>
                <a:lnTo>
                  <a:pt x="1443266" y="0"/>
                </a:lnTo>
                <a:lnTo>
                  <a:pt x="1443266" y="961576"/>
                </a:lnTo>
                <a:lnTo>
                  <a:pt x="0" y="961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0" name="Google Shape;330;p9"/>
          <p:cNvSpPr/>
          <p:nvPr/>
        </p:nvSpPr>
        <p:spPr>
          <a:xfrm>
            <a:off x="1532121" y="7581239"/>
            <a:ext cx="887699" cy="887699"/>
          </a:xfrm>
          <a:custGeom>
            <a:rect b="b" l="l" r="r" t="t"/>
            <a:pathLst>
              <a:path extrusionOk="0" h="887699" w="887699">
                <a:moveTo>
                  <a:pt x="0" y="0"/>
                </a:moveTo>
                <a:lnTo>
                  <a:pt x="887699" y="0"/>
                </a:lnTo>
                <a:lnTo>
                  <a:pt x="887699" y="887699"/>
                </a:lnTo>
                <a:lnTo>
                  <a:pt x="0" y="8876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1" name="Google Shape;331;p9"/>
          <p:cNvSpPr/>
          <p:nvPr/>
        </p:nvSpPr>
        <p:spPr>
          <a:xfrm>
            <a:off x="6314788" y="6324984"/>
            <a:ext cx="1352704" cy="901239"/>
          </a:xfrm>
          <a:custGeom>
            <a:rect b="b" l="l" r="r" t="t"/>
            <a:pathLst>
              <a:path extrusionOk="0" h="901239" w="1352704">
                <a:moveTo>
                  <a:pt x="0" y="0"/>
                </a:moveTo>
                <a:lnTo>
                  <a:pt x="1352704" y="0"/>
                </a:lnTo>
                <a:lnTo>
                  <a:pt x="1352704" y="901239"/>
                </a:lnTo>
                <a:lnTo>
                  <a:pt x="0" y="9012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2" name="Google Shape;332;p9"/>
          <p:cNvSpPr/>
          <p:nvPr/>
        </p:nvSpPr>
        <p:spPr>
          <a:xfrm>
            <a:off x="6296041" y="7717381"/>
            <a:ext cx="1390199" cy="718210"/>
          </a:xfrm>
          <a:custGeom>
            <a:rect b="b" l="l" r="r" t="t"/>
            <a:pathLst>
              <a:path extrusionOk="0" h="718210" w="1390199">
                <a:moveTo>
                  <a:pt x="0" y="0"/>
                </a:moveTo>
                <a:lnTo>
                  <a:pt x="1390199" y="0"/>
                </a:lnTo>
                <a:lnTo>
                  <a:pt x="1390199" y="718210"/>
                </a:lnTo>
                <a:lnTo>
                  <a:pt x="0" y="7182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3" name="Google Shape;333;p9"/>
          <p:cNvSpPr/>
          <p:nvPr/>
        </p:nvSpPr>
        <p:spPr>
          <a:xfrm>
            <a:off x="11650305" y="4919437"/>
            <a:ext cx="1669371" cy="1112218"/>
          </a:xfrm>
          <a:custGeom>
            <a:rect b="b" l="l" r="r" t="t"/>
            <a:pathLst>
              <a:path extrusionOk="0" h="1112218" w="1669371">
                <a:moveTo>
                  <a:pt x="0" y="0"/>
                </a:moveTo>
                <a:lnTo>
                  <a:pt x="1669371" y="0"/>
                </a:lnTo>
                <a:lnTo>
                  <a:pt x="1669371" y="1112218"/>
                </a:lnTo>
                <a:lnTo>
                  <a:pt x="0" y="11122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4" name="Google Shape;334;p9"/>
          <p:cNvSpPr txBox="1"/>
          <p:nvPr/>
        </p:nvSpPr>
        <p:spPr>
          <a:xfrm>
            <a:off x="1504365" y="1562061"/>
            <a:ext cx="8133900" cy="739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21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Tecnologías Clave</a:t>
            </a:r>
            <a:endParaRPr/>
          </a:p>
        </p:txBody>
      </p:sp>
      <p:sp>
        <p:nvSpPr>
          <p:cNvPr id="335" name="Google Shape;335;p9"/>
          <p:cNvSpPr txBox="1"/>
          <p:nvPr/>
        </p:nvSpPr>
        <p:spPr>
          <a:xfrm>
            <a:off x="2671406" y="5303703"/>
            <a:ext cx="2645492" cy="62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KOTLIN + JETPACK COMPOSE</a:t>
            </a:r>
            <a:endParaRPr/>
          </a:p>
        </p:txBody>
      </p:sp>
      <p:sp>
        <p:nvSpPr>
          <p:cNvPr id="336" name="Google Shape;336;p9"/>
          <p:cNvSpPr txBox="1"/>
          <p:nvPr/>
        </p:nvSpPr>
        <p:spPr>
          <a:xfrm>
            <a:off x="7712773" y="5303703"/>
            <a:ext cx="4081726" cy="307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JAVA 21 + SPRING BOOT 3</a:t>
            </a:r>
            <a:endParaRPr/>
          </a:p>
        </p:txBody>
      </p:sp>
      <p:sp>
        <p:nvSpPr>
          <p:cNvPr id="337" name="Google Shape;337;p9"/>
          <p:cNvSpPr txBox="1"/>
          <p:nvPr/>
        </p:nvSpPr>
        <p:spPr>
          <a:xfrm>
            <a:off x="2671406" y="6602862"/>
            <a:ext cx="3379027" cy="307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ML KIT PARA OCR</a:t>
            </a:r>
            <a:endParaRPr/>
          </a:p>
        </p:txBody>
      </p:sp>
      <p:sp>
        <p:nvSpPr>
          <p:cNvPr id="338" name="Google Shape;338;p9"/>
          <p:cNvSpPr txBox="1"/>
          <p:nvPr/>
        </p:nvSpPr>
        <p:spPr>
          <a:xfrm>
            <a:off x="7712773" y="6602862"/>
            <a:ext cx="4301517" cy="307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SPRING DATA JPA/HIBERNATE</a:t>
            </a:r>
            <a:endParaRPr/>
          </a:p>
        </p:txBody>
      </p:sp>
      <p:sp>
        <p:nvSpPr>
          <p:cNvPr id="339" name="Google Shape;339;p9"/>
          <p:cNvSpPr txBox="1"/>
          <p:nvPr/>
        </p:nvSpPr>
        <p:spPr>
          <a:xfrm>
            <a:off x="2671406" y="7903745"/>
            <a:ext cx="3379027" cy="307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HILT PARA INYECCIÓN</a:t>
            </a:r>
            <a:endParaRPr/>
          </a:p>
        </p:txBody>
      </p:sp>
      <p:sp>
        <p:nvSpPr>
          <p:cNvPr id="340" name="Google Shape;340;p9"/>
          <p:cNvSpPr txBox="1"/>
          <p:nvPr/>
        </p:nvSpPr>
        <p:spPr>
          <a:xfrm>
            <a:off x="7712773" y="7903745"/>
            <a:ext cx="2976931" cy="307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MYSQL 8</a:t>
            </a:r>
            <a:endParaRPr/>
          </a:p>
        </p:txBody>
      </p:sp>
      <p:sp>
        <p:nvSpPr>
          <p:cNvPr id="341" name="Google Shape;341;p9"/>
          <p:cNvSpPr txBox="1"/>
          <p:nvPr/>
        </p:nvSpPr>
        <p:spPr>
          <a:xfrm>
            <a:off x="13181332" y="5302804"/>
            <a:ext cx="4081726" cy="307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RETROFIT + OKHTTP</a:t>
            </a:r>
            <a:endParaRPr/>
          </a:p>
        </p:txBody>
      </p:sp>
      <p:sp>
        <p:nvSpPr>
          <p:cNvPr id="342" name="Google Shape;342;p9"/>
          <p:cNvSpPr txBox="1"/>
          <p:nvPr/>
        </p:nvSpPr>
        <p:spPr>
          <a:xfrm>
            <a:off x="13181332" y="6601963"/>
            <a:ext cx="4301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GEMINI API</a:t>
            </a:r>
            <a:endParaRPr/>
          </a:p>
        </p:txBody>
      </p:sp>
      <p:sp>
        <p:nvSpPr>
          <p:cNvPr id="343" name="Google Shape;343;p9"/>
          <p:cNvSpPr txBox="1"/>
          <p:nvPr/>
        </p:nvSpPr>
        <p:spPr>
          <a:xfrm>
            <a:off x="1476035" y="579568"/>
            <a:ext cx="1661759" cy="382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FarmaCode</a:t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11343693" y="-1389396"/>
            <a:ext cx="8183623" cy="8183623"/>
          </a:xfrm>
          <a:custGeom>
            <a:rect b="b" l="l" r="r" t="t"/>
            <a:pathLst>
              <a:path extrusionOk="0" h="8183623" w="8183623">
                <a:moveTo>
                  <a:pt x="0" y="0"/>
                </a:moveTo>
                <a:lnTo>
                  <a:pt x="8183623" y="0"/>
                </a:lnTo>
                <a:lnTo>
                  <a:pt x="8183623" y="8183623"/>
                </a:lnTo>
                <a:lnTo>
                  <a:pt x="0" y="8183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45" name="Google Shape;345;p9" title="vecteezy_gemini-icon-on-a-transparent-background_46861646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004171" y="6275762"/>
            <a:ext cx="961628" cy="961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30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"/>
          <p:cNvSpPr/>
          <p:nvPr/>
        </p:nvSpPr>
        <p:spPr>
          <a:xfrm>
            <a:off x="13029584" y="2103377"/>
            <a:ext cx="8183623" cy="8183623"/>
          </a:xfrm>
          <a:custGeom>
            <a:rect b="b" l="l" r="r" t="t"/>
            <a:pathLst>
              <a:path extrusionOk="0" h="8183623" w="8183623">
                <a:moveTo>
                  <a:pt x="0" y="0"/>
                </a:moveTo>
                <a:lnTo>
                  <a:pt x="8183623" y="0"/>
                </a:lnTo>
                <a:lnTo>
                  <a:pt x="8183623" y="8183623"/>
                </a:lnTo>
                <a:lnTo>
                  <a:pt x="0" y="8183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1" name="Google Shape;351;p10"/>
          <p:cNvSpPr/>
          <p:nvPr/>
        </p:nvSpPr>
        <p:spPr>
          <a:xfrm>
            <a:off x="835402" y="664269"/>
            <a:ext cx="460249" cy="575311"/>
          </a:xfrm>
          <a:custGeom>
            <a:rect b="b" l="l" r="r" t="t"/>
            <a:pathLst>
              <a:path extrusionOk="0" h="575311" w="460249">
                <a:moveTo>
                  <a:pt x="0" y="0"/>
                </a:moveTo>
                <a:lnTo>
                  <a:pt x="460248" y="0"/>
                </a:lnTo>
                <a:lnTo>
                  <a:pt x="460248" y="575311"/>
                </a:lnTo>
                <a:lnTo>
                  <a:pt x="0" y="575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2" name="Google Shape;352;p10"/>
          <p:cNvSpPr txBox="1"/>
          <p:nvPr/>
        </p:nvSpPr>
        <p:spPr>
          <a:xfrm>
            <a:off x="3901006" y="1661545"/>
            <a:ext cx="10485988" cy="739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21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Configuración del Servidor - Railway</a:t>
            </a:r>
            <a:endParaRPr/>
          </a:p>
        </p:txBody>
      </p:sp>
      <p:grpSp>
        <p:nvGrpSpPr>
          <p:cNvPr id="353" name="Google Shape;353;p10"/>
          <p:cNvGrpSpPr/>
          <p:nvPr/>
        </p:nvGrpSpPr>
        <p:grpSpPr>
          <a:xfrm>
            <a:off x="1598384" y="4693786"/>
            <a:ext cx="3597452" cy="4332259"/>
            <a:chOff x="0" y="-66675"/>
            <a:chExt cx="1941410" cy="2337958"/>
          </a:xfrm>
        </p:grpSpPr>
        <p:sp>
          <p:nvSpPr>
            <p:cNvPr id="354" name="Google Shape;354;p10"/>
            <p:cNvSpPr/>
            <p:nvPr/>
          </p:nvSpPr>
          <p:spPr>
            <a:xfrm>
              <a:off x="0" y="0"/>
              <a:ext cx="1941410" cy="2271283"/>
            </a:xfrm>
            <a:custGeom>
              <a:rect b="b" l="l" r="r" t="t"/>
              <a:pathLst>
                <a:path extrusionOk="0" h="2271283" w="1941410">
                  <a:moveTo>
                    <a:pt x="73170" y="0"/>
                  </a:moveTo>
                  <a:lnTo>
                    <a:pt x="1868240" y="0"/>
                  </a:lnTo>
                  <a:cubicBezTo>
                    <a:pt x="1908651" y="0"/>
                    <a:pt x="1941410" y="32759"/>
                    <a:pt x="1941410" y="73170"/>
                  </a:cubicBezTo>
                  <a:lnTo>
                    <a:pt x="1941410" y="2198114"/>
                  </a:lnTo>
                  <a:cubicBezTo>
                    <a:pt x="1941410" y="2217519"/>
                    <a:pt x="1933701" y="2236130"/>
                    <a:pt x="1919979" y="2249852"/>
                  </a:cubicBezTo>
                  <a:cubicBezTo>
                    <a:pt x="1906257" y="2263574"/>
                    <a:pt x="1887646" y="2271283"/>
                    <a:pt x="1868240" y="2271283"/>
                  </a:cubicBezTo>
                  <a:lnTo>
                    <a:pt x="73170" y="2271283"/>
                  </a:lnTo>
                  <a:cubicBezTo>
                    <a:pt x="53764" y="2271283"/>
                    <a:pt x="35153" y="2263574"/>
                    <a:pt x="21431" y="2249852"/>
                  </a:cubicBezTo>
                  <a:cubicBezTo>
                    <a:pt x="7709" y="2236130"/>
                    <a:pt x="0" y="2217519"/>
                    <a:pt x="0" y="2198114"/>
                  </a:cubicBezTo>
                  <a:lnTo>
                    <a:pt x="0" y="73170"/>
                  </a:lnTo>
                  <a:cubicBezTo>
                    <a:pt x="0" y="53764"/>
                    <a:pt x="7709" y="35153"/>
                    <a:pt x="21431" y="21431"/>
                  </a:cubicBezTo>
                  <a:cubicBezTo>
                    <a:pt x="35153" y="7709"/>
                    <a:pt x="53764" y="0"/>
                    <a:pt x="73170" y="0"/>
                  </a:cubicBezTo>
                  <a:close/>
                </a:path>
              </a:pathLst>
            </a:custGeom>
            <a:solidFill>
              <a:srgbClr val="1222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0"/>
            <p:cNvSpPr txBox="1"/>
            <p:nvPr/>
          </p:nvSpPr>
          <p:spPr>
            <a:xfrm>
              <a:off x="0" y="-66675"/>
              <a:ext cx="1941410" cy="2337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" name="Google Shape;356;p10"/>
          <p:cNvGrpSpPr/>
          <p:nvPr/>
        </p:nvGrpSpPr>
        <p:grpSpPr>
          <a:xfrm>
            <a:off x="2364641" y="3747254"/>
            <a:ext cx="2064937" cy="2064937"/>
            <a:chOff x="0" y="0"/>
            <a:chExt cx="812800" cy="812800"/>
          </a:xfrm>
        </p:grpSpPr>
        <p:sp>
          <p:nvSpPr>
            <p:cNvPr id="357" name="Google Shape;357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" name="Google Shape;359;p10"/>
          <p:cNvSpPr/>
          <p:nvPr/>
        </p:nvSpPr>
        <p:spPr>
          <a:xfrm>
            <a:off x="2643616" y="4232757"/>
            <a:ext cx="1658083" cy="1295897"/>
          </a:xfrm>
          <a:custGeom>
            <a:rect b="b" l="l" r="r" t="t"/>
            <a:pathLst>
              <a:path extrusionOk="0" h="1295897" w="1658083">
                <a:moveTo>
                  <a:pt x="0" y="0"/>
                </a:moveTo>
                <a:lnTo>
                  <a:pt x="1658084" y="0"/>
                </a:lnTo>
                <a:lnTo>
                  <a:pt x="1658084" y="1295897"/>
                </a:lnTo>
                <a:lnTo>
                  <a:pt x="0" y="1295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0" name="Google Shape;360;p10"/>
          <p:cNvSpPr txBox="1"/>
          <p:nvPr/>
        </p:nvSpPr>
        <p:spPr>
          <a:xfrm>
            <a:off x="2112844" y="6880262"/>
            <a:ext cx="2573909" cy="1516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86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Despliegue simplificado con CI/CD integrado a GitHub.</a:t>
            </a:r>
            <a:endParaRPr/>
          </a:p>
        </p:txBody>
      </p:sp>
      <p:sp>
        <p:nvSpPr>
          <p:cNvPr id="361" name="Google Shape;361;p10"/>
          <p:cNvSpPr txBox="1"/>
          <p:nvPr/>
        </p:nvSpPr>
        <p:spPr>
          <a:xfrm>
            <a:off x="1600370" y="6269392"/>
            <a:ext cx="3598858" cy="322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22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PAAS CLOUD</a:t>
            </a:r>
            <a:endParaRPr/>
          </a:p>
        </p:txBody>
      </p:sp>
      <p:grpSp>
        <p:nvGrpSpPr>
          <p:cNvPr id="362" name="Google Shape;362;p10"/>
          <p:cNvGrpSpPr/>
          <p:nvPr/>
        </p:nvGrpSpPr>
        <p:grpSpPr>
          <a:xfrm>
            <a:off x="5408778" y="4677732"/>
            <a:ext cx="3597452" cy="4332259"/>
            <a:chOff x="0" y="-66675"/>
            <a:chExt cx="1941410" cy="2337958"/>
          </a:xfrm>
        </p:grpSpPr>
        <p:sp>
          <p:nvSpPr>
            <p:cNvPr id="363" name="Google Shape;363;p10"/>
            <p:cNvSpPr/>
            <p:nvPr/>
          </p:nvSpPr>
          <p:spPr>
            <a:xfrm>
              <a:off x="0" y="0"/>
              <a:ext cx="1941410" cy="2271283"/>
            </a:xfrm>
            <a:custGeom>
              <a:rect b="b" l="l" r="r" t="t"/>
              <a:pathLst>
                <a:path extrusionOk="0" h="2271283" w="1941410">
                  <a:moveTo>
                    <a:pt x="73170" y="0"/>
                  </a:moveTo>
                  <a:lnTo>
                    <a:pt x="1868240" y="0"/>
                  </a:lnTo>
                  <a:cubicBezTo>
                    <a:pt x="1908651" y="0"/>
                    <a:pt x="1941410" y="32759"/>
                    <a:pt x="1941410" y="73170"/>
                  </a:cubicBezTo>
                  <a:lnTo>
                    <a:pt x="1941410" y="2198114"/>
                  </a:lnTo>
                  <a:cubicBezTo>
                    <a:pt x="1941410" y="2217519"/>
                    <a:pt x="1933701" y="2236130"/>
                    <a:pt x="1919979" y="2249852"/>
                  </a:cubicBezTo>
                  <a:cubicBezTo>
                    <a:pt x="1906257" y="2263574"/>
                    <a:pt x="1887646" y="2271283"/>
                    <a:pt x="1868240" y="2271283"/>
                  </a:cubicBezTo>
                  <a:lnTo>
                    <a:pt x="73170" y="2271283"/>
                  </a:lnTo>
                  <a:cubicBezTo>
                    <a:pt x="53764" y="2271283"/>
                    <a:pt x="35153" y="2263574"/>
                    <a:pt x="21431" y="2249852"/>
                  </a:cubicBezTo>
                  <a:cubicBezTo>
                    <a:pt x="7709" y="2236130"/>
                    <a:pt x="0" y="2217519"/>
                    <a:pt x="0" y="2198114"/>
                  </a:cubicBezTo>
                  <a:lnTo>
                    <a:pt x="0" y="73170"/>
                  </a:lnTo>
                  <a:cubicBezTo>
                    <a:pt x="0" y="53764"/>
                    <a:pt x="7709" y="35153"/>
                    <a:pt x="21431" y="21431"/>
                  </a:cubicBezTo>
                  <a:cubicBezTo>
                    <a:pt x="35153" y="7709"/>
                    <a:pt x="53764" y="0"/>
                    <a:pt x="73170" y="0"/>
                  </a:cubicBezTo>
                  <a:close/>
                </a:path>
              </a:pathLst>
            </a:custGeom>
            <a:solidFill>
              <a:srgbClr val="1222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0" y="-66675"/>
              <a:ext cx="1941410" cy="2337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p10"/>
          <p:cNvGrpSpPr/>
          <p:nvPr/>
        </p:nvGrpSpPr>
        <p:grpSpPr>
          <a:xfrm>
            <a:off x="6175035" y="3663903"/>
            <a:ext cx="2064937" cy="2064937"/>
            <a:chOff x="0" y="0"/>
            <a:chExt cx="812800" cy="812800"/>
          </a:xfrm>
        </p:grpSpPr>
        <p:sp>
          <p:nvSpPr>
            <p:cNvPr id="366" name="Google Shape;366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p10"/>
          <p:cNvSpPr/>
          <p:nvPr/>
        </p:nvSpPr>
        <p:spPr>
          <a:xfrm>
            <a:off x="6586366" y="3908512"/>
            <a:ext cx="1293062" cy="1761892"/>
          </a:xfrm>
          <a:custGeom>
            <a:rect b="b" l="l" r="r" t="t"/>
            <a:pathLst>
              <a:path extrusionOk="0" h="1761892" w="1293062">
                <a:moveTo>
                  <a:pt x="0" y="0"/>
                </a:moveTo>
                <a:lnTo>
                  <a:pt x="1293063" y="0"/>
                </a:lnTo>
                <a:lnTo>
                  <a:pt x="1293063" y="1761893"/>
                </a:lnTo>
                <a:lnTo>
                  <a:pt x="0" y="17618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9" name="Google Shape;369;p10"/>
          <p:cNvSpPr txBox="1"/>
          <p:nvPr/>
        </p:nvSpPr>
        <p:spPr>
          <a:xfrm>
            <a:off x="5918218" y="6880262"/>
            <a:ext cx="2578571" cy="1135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86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Gestión segura de credenciales y API keys.</a:t>
            </a:r>
            <a:endParaRPr/>
          </a:p>
        </p:txBody>
      </p:sp>
      <p:sp>
        <p:nvSpPr>
          <p:cNvPr id="370" name="Google Shape;370;p10"/>
          <p:cNvSpPr txBox="1"/>
          <p:nvPr/>
        </p:nvSpPr>
        <p:spPr>
          <a:xfrm>
            <a:off x="5938785" y="6278917"/>
            <a:ext cx="2537437" cy="24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9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VARIABLES DE ENTORNO</a:t>
            </a:r>
            <a:endParaRPr/>
          </a:p>
        </p:txBody>
      </p:sp>
      <p:grpSp>
        <p:nvGrpSpPr>
          <p:cNvPr id="371" name="Google Shape;371;p10"/>
          <p:cNvGrpSpPr/>
          <p:nvPr/>
        </p:nvGrpSpPr>
        <p:grpSpPr>
          <a:xfrm>
            <a:off x="9219172" y="4677732"/>
            <a:ext cx="3597452" cy="4332259"/>
            <a:chOff x="0" y="-66675"/>
            <a:chExt cx="1941410" cy="2337958"/>
          </a:xfrm>
        </p:grpSpPr>
        <p:sp>
          <p:nvSpPr>
            <p:cNvPr id="372" name="Google Shape;372;p10"/>
            <p:cNvSpPr/>
            <p:nvPr/>
          </p:nvSpPr>
          <p:spPr>
            <a:xfrm>
              <a:off x="0" y="0"/>
              <a:ext cx="1941410" cy="2271283"/>
            </a:xfrm>
            <a:custGeom>
              <a:rect b="b" l="l" r="r" t="t"/>
              <a:pathLst>
                <a:path extrusionOk="0" h="2271283" w="1941410">
                  <a:moveTo>
                    <a:pt x="73170" y="0"/>
                  </a:moveTo>
                  <a:lnTo>
                    <a:pt x="1868240" y="0"/>
                  </a:lnTo>
                  <a:cubicBezTo>
                    <a:pt x="1908651" y="0"/>
                    <a:pt x="1941410" y="32759"/>
                    <a:pt x="1941410" y="73170"/>
                  </a:cubicBezTo>
                  <a:lnTo>
                    <a:pt x="1941410" y="2198114"/>
                  </a:lnTo>
                  <a:cubicBezTo>
                    <a:pt x="1941410" y="2217519"/>
                    <a:pt x="1933701" y="2236130"/>
                    <a:pt x="1919979" y="2249852"/>
                  </a:cubicBezTo>
                  <a:cubicBezTo>
                    <a:pt x="1906257" y="2263574"/>
                    <a:pt x="1887646" y="2271283"/>
                    <a:pt x="1868240" y="2271283"/>
                  </a:cubicBezTo>
                  <a:lnTo>
                    <a:pt x="73170" y="2271283"/>
                  </a:lnTo>
                  <a:cubicBezTo>
                    <a:pt x="53764" y="2271283"/>
                    <a:pt x="35153" y="2263574"/>
                    <a:pt x="21431" y="2249852"/>
                  </a:cubicBezTo>
                  <a:cubicBezTo>
                    <a:pt x="7709" y="2236130"/>
                    <a:pt x="0" y="2217519"/>
                    <a:pt x="0" y="2198114"/>
                  </a:cubicBezTo>
                  <a:lnTo>
                    <a:pt x="0" y="73170"/>
                  </a:lnTo>
                  <a:cubicBezTo>
                    <a:pt x="0" y="53764"/>
                    <a:pt x="7709" y="35153"/>
                    <a:pt x="21431" y="21431"/>
                  </a:cubicBezTo>
                  <a:cubicBezTo>
                    <a:pt x="35153" y="7709"/>
                    <a:pt x="53764" y="0"/>
                    <a:pt x="73170" y="0"/>
                  </a:cubicBezTo>
                  <a:close/>
                </a:path>
              </a:pathLst>
            </a:custGeom>
            <a:solidFill>
              <a:srgbClr val="1222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0"/>
            <p:cNvSpPr txBox="1"/>
            <p:nvPr/>
          </p:nvSpPr>
          <p:spPr>
            <a:xfrm>
              <a:off x="0" y="-66675"/>
              <a:ext cx="1941410" cy="2337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" name="Google Shape;374;p10"/>
          <p:cNvGrpSpPr/>
          <p:nvPr/>
        </p:nvGrpSpPr>
        <p:grpSpPr>
          <a:xfrm>
            <a:off x="9985787" y="3747254"/>
            <a:ext cx="2064937" cy="2064937"/>
            <a:chOff x="0" y="0"/>
            <a:chExt cx="812800" cy="812800"/>
          </a:xfrm>
        </p:grpSpPr>
        <p:sp>
          <p:nvSpPr>
            <p:cNvPr id="375" name="Google Shape;375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7" name="Google Shape;377;p10"/>
          <p:cNvSpPr/>
          <p:nvPr/>
        </p:nvSpPr>
        <p:spPr>
          <a:xfrm>
            <a:off x="10437012" y="4015447"/>
            <a:ext cx="1092559" cy="1477665"/>
          </a:xfrm>
          <a:custGeom>
            <a:rect b="b" l="l" r="r" t="t"/>
            <a:pathLst>
              <a:path extrusionOk="0" h="1477665" w="1092559">
                <a:moveTo>
                  <a:pt x="0" y="0"/>
                </a:moveTo>
                <a:lnTo>
                  <a:pt x="1092559" y="0"/>
                </a:lnTo>
                <a:lnTo>
                  <a:pt x="1092559" y="1477665"/>
                </a:lnTo>
                <a:lnTo>
                  <a:pt x="0" y="14776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8" name="Google Shape;378;p10"/>
          <p:cNvSpPr txBox="1"/>
          <p:nvPr/>
        </p:nvSpPr>
        <p:spPr>
          <a:xfrm>
            <a:off x="9702539" y="6880262"/>
            <a:ext cx="2631435" cy="1135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86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Certificados SSL automáticos para conexiones seguras.</a:t>
            </a:r>
            <a:endParaRPr/>
          </a:p>
        </p:txBody>
      </p:sp>
      <p:sp>
        <p:nvSpPr>
          <p:cNvPr id="379" name="Google Shape;379;p10"/>
          <p:cNvSpPr txBox="1"/>
          <p:nvPr/>
        </p:nvSpPr>
        <p:spPr>
          <a:xfrm>
            <a:off x="9219888" y="6269392"/>
            <a:ext cx="3596735" cy="322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22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HTTPS AUTOMÁTICO</a:t>
            </a:r>
            <a:endParaRPr/>
          </a:p>
        </p:txBody>
      </p:sp>
      <p:grpSp>
        <p:nvGrpSpPr>
          <p:cNvPr id="380" name="Google Shape;380;p10"/>
          <p:cNvGrpSpPr/>
          <p:nvPr/>
        </p:nvGrpSpPr>
        <p:grpSpPr>
          <a:xfrm>
            <a:off x="13029566" y="4677732"/>
            <a:ext cx="3597452" cy="4332259"/>
            <a:chOff x="0" y="-66675"/>
            <a:chExt cx="1941410" cy="2337958"/>
          </a:xfrm>
        </p:grpSpPr>
        <p:sp>
          <p:nvSpPr>
            <p:cNvPr id="381" name="Google Shape;381;p10"/>
            <p:cNvSpPr/>
            <p:nvPr/>
          </p:nvSpPr>
          <p:spPr>
            <a:xfrm>
              <a:off x="0" y="0"/>
              <a:ext cx="1941410" cy="2271283"/>
            </a:xfrm>
            <a:custGeom>
              <a:rect b="b" l="l" r="r" t="t"/>
              <a:pathLst>
                <a:path extrusionOk="0" h="2271283" w="1941410">
                  <a:moveTo>
                    <a:pt x="73170" y="0"/>
                  </a:moveTo>
                  <a:lnTo>
                    <a:pt x="1868240" y="0"/>
                  </a:lnTo>
                  <a:cubicBezTo>
                    <a:pt x="1908651" y="0"/>
                    <a:pt x="1941410" y="32759"/>
                    <a:pt x="1941410" y="73170"/>
                  </a:cubicBezTo>
                  <a:lnTo>
                    <a:pt x="1941410" y="2198114"/>
                  </a:lnTo>
                  <a:cubicBezTo>
                    <a:pt x="1941410" y="2217519"/>
                    <a:pt x="1933701" y="2236130"/>
                    <a:pt x="1919979" y="2249852"/>
                  </a:cubicBezTo>
                  <a:cubicBezTo>
                    <a:pt x="1906257" y="2263574"/>
                    <a:pt x="1887646" y="2271283"/>
                    <a:pt x="1868240" y="2271283"/>
                  </a:cubicBezTo>
                  <a:lnTo>
                    <a:pt x="73170" y="2271283"/>
                  </a:lnTo>
                  <a:cubicBezTo>
                    <a:pt x="53764" y="2271283"/>
                    <a:pt x="35153" y="2263574"/>
                    <a:pt x="21431" y="2249852"/>
                  </a:cubicBezTo>
                  <a:cubicBezTo>
                    <a:pt x="7709" y="2236130"/>
                    <a:pt x="0" y="2217519"/>
                    <a:pt x="0" y="2198114"/>
                  </a:cubicBezTo>
                  <a:lnTo>
                    <a:pt x="0" y="73170"/>
                  </a:lnTo>
                  <a:cubicBezTo>
                    <a:pt x="0" y="53764"/>
                    <a:pt x="7709" y="35153"/>
                    <a:pt x="21431" y="21431"/>
                  </a:cubicBezTo>
                  <a:cubicBezTo>
                    <a:pt x="35153" y="7709"/>
                    <a:pt x="53764" y="0"/>
                    <a:pt x="73170" y="0"/>
                  </a:cubicBezTo>
                  <a:close/>
                </a:path>
              </a:pathLst>
            </a:custGeom>
            <a:solidFill>
              <a:srgbClr val="1222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0"/>
            <p:cNvSpPr txBox="1"/>
            <p:nvPr/>
          </p:nvSpPr>
          <p:spPr>
            <a:xfrm>
              <a:off x="0" y="-66675"/>
              <a:ext cx="1941410" cy="2337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3" name="Google Shape;383;p10"/>
          <p:cNvGrpSpPr/>
          <p:nvPr/>
        </p:nvGrpSpPr>
        <p:grpSpPr>
          <a:xfrm>
            <a:off x="13796540" y="3663903"/>
            <a:ext cx="2064937" cy="2064937"/>
            <a:chOff x="0" y="0"/>
            <a:chExt cx="812800" cy="812800"/>
          </a:xfrm>
        </p:grpSpPr>
        <p:sp>
          <p:nvSpPr>
            <p:cNvPr id="384" name="Google Shape;384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6" name="Google Shape;386;p10"/>
          <p:cNvSpPr/>
          <p:nvPr/>
        </p:nvSpPr>
        <p:spPr>
          <a:xfrm>
            <a:off x="14119320" y="4082361"/>
            <a:ext cx="1574885" cy="1290565"/>
          </a:xfrm>
          <a:custGeom>
            <a:rect b="b" l="l" r="r" t="t"/>
            <a:pathLst>
              <a:path extrusionOk="0" h="1290565" w="1574885">
                <a:moveTo>
                  <a:pt x="0" y="0"/>
                </a:moveTo>
                <a:lnTo>
                  <a:pt x="1574885" y="0"/>
                </a:lnTo>
                <a:lnTo>
                  <a:pt x="1574885" y="1290565"/>
                </a:lnTo>
                <a:lnTo>
                  <a:pt x="0" y="1290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7" name="Google Shape;387;p10"/>
          <p:cNvSpPr txBox="1"/>
          <p:nvPr/>
        </p:nvSpPr>
        <p:spPr>
          <a:xfrm>
            <a:off x="13561273" y="6880262"/>
            <a:ext cx="2526644" cy="1135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86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Ajuste dinámico de recursos según demanda.</a:t>
            </a:r>
            <a:endParaRPr/>
          </a:p>
        </p:txBody>
      </p:sp>
      <p:sp>
        <p:nvSpPr>
          <p:cNvPr id="388" name="Google Shape;388;p10"/>
          <p:cNvSpPr txBox="1"/>
          <p:nvPr/>
        </p:nvSpPr>
        <p:spPr>
          <a:xfrm>
            <a:off x="13208189" y="6269392"/>
            <a:ext cx="3232811" cy="323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ESCALADO AUTOMÁTICO</a:t>
            </a: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15722836" y="9258300"/>
            <a:ext cx="2565164" cy="932787"/>
          </a:xfrm>
          <a:custGeom>
            <a:rect b="b" l="l" r="r" t="t"/>
            <a:pathLst>
              <a:path extrusionOk="0" h="932787" w="2565164">
                <a:moveTo>
                  <a:pt x="0" y="0"/>
                </a:moveTo>
                <a:lnTo>
                  <a:pt x="2565164" y="0"/>
                </a:lnTo>
                <a:lnTo>
                  <a:pt x="2565164" y="932787"/>
                </a:lnTo>
                <a:lnTo>
                  <a:pt x="0" y="932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0" name="Google Shape;390;p10"/>
          <p:cNvSpPr txBox="1"/>
          <p:nvPr/>
        </p:nvSpPr>
        <p:spPr>
          <a:xfrm>
            <a:off x="1476035" y="579568"/>
            <a:ext cx="1661759" cy="382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FarmaCode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30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"/>
          <p:cNvSpPr/>
          <p:nvPr/>
        </p:nvSpPr>
        <p:spPr>
          <a:xfrm>
            <a:off x="12451734" y="-2864423"/>
            <a:ext cx="8183623" cy="8183623"/>
          </a:xfrm>
          <a:custGeom>
            <a:rect b="b" l="l" r="r" t="t"/>
            <a:pathLst>
              <a:path extrusionOk="0" h="8183623" w="8183623">
                <a:moveTo>
                  <a:pt x="0" y="0"/>
                </a:moveTo>
                <a:lnTo>
                  <a:pt x="8183623" y="0"/>
                </a:lnTo>
                <a:lnTo>
                  <a:pt x="8183623" y="8183623"/>
                </a:lnTo>
                <a:lnTo>
                  <a:pt x="0" y="8183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6" name="Google Shape;396;p11"/>
          <p:cNvGrpSpPr/>
          <p:nvPr/>
        </p:nvGrpSpPr>
        <p:grpSpPr>
          <a:xfrm>
            <a:off x="10265327" y="3983742"/>
            <a:ext cx="6322987" cy="1335469"/>
            <a:chOff x="0" y="-66675"/>
            <a:chExt cx="1665314" cy="351729"/>
          </a:xfrm>
        </p:grpSpPr>
        <p:sp>
          <p:nvSpPr>
            <p:cNvPr id="397" name="Google Shape;397;p11"/>
            <p:cNvSpPr/>
            <p:nvPr/>
          </p:nvSpPr>
          <p:spPr>
            <a:xfrm>
              <a:off x="0" y="0"/>
              <a:ext cx="1665313" cy="285054"/>
            </a:xfrm>
            <a:custGeom>
              <a:rect b="b" l="l" r="r" t="t"/>
              <a:pathLst>
                <a:path extrusionOk="0" h="285054" w="1665313">
                  <a:moveTo>
                    <a:pt x="122441" y="0"/>
                  </a:moveTo>
                  <a:lnTo>
                    <a:pt x="1542873" y="0"/>
                  </a:lnTo>
                  <a:cubicBezTo>
                    <a:pt x="1610495" y="0"/>
                    <a:pt x="1665313" y="54819"/>
                    <a:pt x="1665313" y="122441"/>
                  </a:cubicBezTo>
                  <a:lnTo>
                    <a:pt x="1665313" y="162613"/>
                  </a:lnTo>
                  <a:cubicBezTo>
                    <a:pt x="1665313" y="230235"/>
                    <a:pt x="1610495" y="285054"/>
                    <a:pt x="1542873" y="285054"/>
                  </a:cubicBezTo>
                  <a:lnTo>
                    <a:pt x="122441" y="285054"/>
                  </a:lnTo>
                  <a:cubicBezTo>
                    <a:pt x="54819" y="285054"/>
                    <a:pt x="0" y="230235"/>
                    <a:pt x="0" y="162613"/>
                  </a:cubicBezTo>
                  <a:lnTo>
                    <a:pt x="0" y="122441"/>
                  </a:lnTo>
                  <a:cubicBezTo>
                    <a:pt x="0" y="54819"/>
                    <a:pt x="54819" y="0"/>
                    <a:pt x="122441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1"/>
            <p:cNvSpPr txBox="1"/>
            <p:nvPr/>
          </p:nvSpPr>
          <p:spPr>
            <a:xfrm>
              <a:off x="0" y="-66675"/>
              <a:ext cx="1665314" cy="351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11"/>
          <p:cNvGrpSpPr/>
          <p:nvPr/>
        </p:nvGrpSpPr>
        <p:grpSpPr>
          <a:xfrm>
            <a:off x="10265327" y="5551830"/>
            <a:ext cx="6322987" cy="1335469"/>
            <a:chOff x="0" y="-66675"/>
            <a:chExt cx="1665314" cy="351729"/>
          </a:xfrm>
        </p:grpSpPr>
        <p:sp>
          <p:nvSpPr>
            <p:cNvPr id="400" name="Google Shape;400;p11"/>
            <p:cNvSpPr/>
            <p:nvPr/>
          </p:nvSpPr>
          <p:spPr>
            <a:xfrm>
              <a:off x="0" y="0"/>
              <a:ext cx="1665313" cy="285054"/>
            </a:xfrm>
            <a:custGeom>
              <a:rect b="b" l="l" r="r" t="t"/>
              <a:pathLst>
                <a:path extrusionOk="0" h="285054" w="1665313">
                  <a:moveTo>
                    <a:pt x="122441" y="0"/>
                  </a:moveTo>
                  <a:lnTo>
                    <a:pt x="1542873" y="0"/>
                  </a:lnTo>
                  <a:cubicBezTo>
                    <a:pt x="1610495" y="0"/>
                    <a:pt x="1665313" y="54819"/>
                    <a:pt x="1665313" y="122441"/>
                  </a:cubicBezTo>
                  <a:lnTo>
                    <a:pt x="1665313" y="162613"/>
                  </a:lnTo>
                  <a:cubicBezTo>
                    <a:pt x="1665313" y="230235"/>
                    <a:pt x="1610495" y="285054"/>
                    <a:pt x="1542873" y="285054"/>
                  </a:cubicBezTo>
                  <a:lnTo>
                    <a:pt x="122441" y="285054"/>
                  </a:lnTo>
                  <a:cubicBezTo>
                    <a:pt x="54819" y="285054"/>
                    <a:pt x="0" y="230235"/>
                    <a:pt x="0" y="162613"/>
                  </a:cubicBezTo>
                  <a:lnTo>
                    <a:pt x="0" y="122441"/>
                  </a:lnTo>
                  <a:cubicBezTo>
                    <a:pt x="0" y="54819"/>
                    <a:pt x="54819" y="0"/>
                    <a:pt x="122441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1"/>
            <p:cNvSpPr txBox="1"/>
            <p:nvPr/>
          </p:nvSpPr>
          <p:spPr>
            <a:xfrm>
              <a:off x="0" y="-66675"/>
              <a:ext cx="1665314" cy="351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11"/>
          <p:cNvGrpSpPr/>
          <p:nvPr/>
        </p:nvGrpSpPr>
        <p:grpSpPr>
          <a:xfrm>
            <a:off x="10265327" y="7119917"/>
            <a:ext cx="6322987" cy="1335469"/>
            <a:chOff x="0" y="-66675"/>
            <a:chExt cx="1665314" cy="351729"/>
          </a:xfrm>
        </p:grpSpPr>
        <p:sp>
          <p:nvSpPr>
            <p:cNvPr id="403" name="Google Shape;403;p11"/>
            <p:cNvSpPr/>
            <p:nvPr/>
          </p:nvSpPr>
          <p:spPr>
            <a:xfrm>
              <a:off x="0" y="0"/>
              <a:ext cx="1665313" cy="285054"/>
            </a:xfrm>
            <a:custGeom>
              <a:rect b="b" l="l" r="r" t="t"/>
              <a:pathLst>
                <a:path extrusionOk="0" h="285054" w="1665313">
                  <a:moveTo>
                    <a:pt x="122441" y="0"/>
                  </a:moveTo>
                  <a:lnTo>
                    <a:pt x="1542873" y="0"/>
                  </a:lnTo>
                  <a:cubicBezTo>
                    <a:pt x="1610495" y="0"/>
                    <a:pt x="1665313" y="54819"/>
                    <a:pt x="1665313" y="122441"/>
                  </a:cubicBezTo>
                  <a:lnTo>
                    <a:pt x="1665313" y="162613"/>
                  </a:lnTo>
                  <a:cubicBezTo>
                    <a:pt x="1665313" y="230235"/>
                    <a:pt x="1610495" y="285054"/>
                    <a:pt x="1542873" y="285054"/>
                  </a:cubicBezTo>
                  <a:lnTo>
                    <a:pt x="122441" y="285054"/>
                  </a:lnTo>
                  <a:cubicBezTo>
                    <a:pt x="54819" y="285054"/>
                    <a:pt x="0" y="230235"/>
                    <a:pt x="0" y="162613"/>
                  </a:cubicBezTo>
                  <a:lnTo>
                    <a:pt x="0" y="122441"/>
                  </a:lnTo>
                  <a:cubicBezTo>
                    <a:pt x="0" y="54819"/>
                    <a:pt x="54819" y="0"/>
                    <a:pt x="122441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1"/>
            <p:cNvSpPr txBox="1"/>
            <p:nvPr/>
          </p:nvSpPr>
          <p:spPr>
            <a:xfrm>
              <a:off x="0" y="-66675"/>
              <a:ext cx="1665314" cy="351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11"/>
          <p:cNvGrpSpPr/>
          <p:nvPr/>
        </p:nvGrpSpPr>
        <p:grpSpPr>
          <a:xfrm>
            <a:off x="10265327" y="2412856"/>
            <a:ext cx="6322987" cy="1335469"/>
            <a:chOff x="0" y="-66675"/>
            <a:chExt cx="1665314" cy="351729"/>
          </a:xfrm>
        </p:grpSpPr>
        <p:sp>
          <p:nvSpPr>
            <p:cNvPr id="406" name="Google Shape;406;p11"/>
            <p:cNvSpPr/>
            <p:nvPr/>
          </p:nvSpPr>
          <p:spPr>
            <a:xfrm>
              <a:off x="0" y="0"/>
              <a:ext cx="1665313" cy="285054"/>
            </a:xfrm>
            <a:custGeom>
              <a:rect b="b" l="l" r="r" t="t"/>
              <a:pathLst>
                <a:path extrusionOk="0" h="285054" w="1665313">
                  <a:moveTo>
                    <a:pt x="122441" y="0"/>
                  </a:moveTo>
                  <a:lnTo>
                    <a:pt x="1542873" y="0"/>
                  </a:lnTo>
                  <a:cubicBezTo>
                    <a:pt x="1610495" y="0"/>
                    <a:pt x="1665313" y="54819"/>
                    <a:pt x="1665313" y="122441"/>
                  </a:cubicBezTo>
                  <a:lnTo>
                    <a:pt x="1665313" y="162613"/>
                  </a:lnTo>
                  <a:cubicBezTo>
                    <a:pt x="1665313" y="230235"/>
                    <a:pt x="1610495" y="285054"/>
                    <a:pt x="1542873" y="285054"/>
                  </a:cubicBezTo>
                  <a:lnTo>
                    <a:pt x="122441" y="285054"/>
                  </a:lnTo>
                  <a:cubicBezTo>
                    <a:pt x="54819" y="285054"/>
                    <a:pt x="0" y="230235"/>
                    <a:pt x="0" y="162613"/>
                  </a:cubicBezTo>
                  <a:lnTo>
                    <a:pt x="0" y="122441"/>
                  </a:lnTo>
                  <a:cubicBezTo>
                    <a:pt x="0" y="54819"/>
                    <a:pt x="54819" y="0"/>
                    <a:pt x="122441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1"/>
            <p:cNvSpPr txBox="1"/>
            <p:nvPr/>
          </p:nvSpPr>
          <p:spPr>
            <a:xfrm>
              <a:off x="0" y="-66675"/>
              <a:ext cx="1665314" cy="351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8" name="Google Shape;408;p11"/>
          <p:cNvSpPr/>
          <p:nvPr/>
        </p:nvSpPr>
        <p:spPr>
          <a:xfrm>
            <a:off x="835402" y="664269"/>
            <a:ext cx="460249" cy="575311"/>
          </a:xfrm>
          <a:custGeom>
            <a:rect b="b" l="l" r="r" t="t"/>
            <a:pathLst>
              <a:path extrusionOk="0" h="575311" w="460249">
                <a:moveTo>
                  <a:pt x="0" y="0"/>
                </a:moveTo>
                <a:lnTo>
                  <a:pt x="460248" y="0"/>
                </a:lnTo>
                <a:lnTo>
                  <a:pt x="460248" y="575311"/>
                </a:lnTo>
                <a:lnTo>
                  <a:pt x="0" y="575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9" name="Google Shape;409;p11"/>
          <p:cNvSpPr/>
          <p:nvPr/>
        </p:nvSpPr>
        <p:spPr>
          <a:xfrm>
            <a:off x="1295650" y="5482231"/>
            <a:ext cx="7400235" cy="4863998"/>
          </a:xfrm>
          <a:custGeom>
            <a:rect b="b" l="l" r="r" t="t"/>
            <a:pathLst>
              <a:path extrusionOk="0" h="753561" w="1146490">
                <a:moveTo>
                  <a:pt x="0" y="0"/>
                </a:moveTo>
                <a:lnTo>
                  <a:pt x="1146490" y="0"/>
                </a:lnTo>
                <a:lnTo>
                  <a:pt x="1146490" y="753561"/>
                </a:lnTo>
                <a:lnTo>
                  <a:pt x="0" y="75356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53" l="0" r="0" t="-1253"/>
            </a:stretch>
          </a:blipFill>
          <a:ln>
            <a:noFill/>
          </a:ln>
        </p:spPr>
      </p:sp>
      <p:sp>
        <p:nvSpPr>
          <p:cNvPr id="410" name="Google Shape;410;p11"/>
          <p:cNvSpPr txBox="1"/>
          <p:nvPr/>
        </p:nvSpPr>
        <p:spPr>
          <a:xfrm>
            <a:off x="1295650" y="2432786"/>
            <a:ext cx="8969676" cy="16864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2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Configuración y Despliegue de Microservicios</a:t>
            </a:r>
            <a:endParaRPr/>
          </a:p>
        </p:txBody>
      </p:sp>
      <p:sp>
        <p:nvSpPr>
          <p:cNvPr id="411" name="Google Shape;411;p11"/>
          <p:cNvSpPr txBox="1"/>
          <p:nvPr/>
        </p:nvSpPr>
        <p:spPr>
          <a:xfrm>
            <a:off x="11722938" y="4560884"/>
            <a:ext cx="4508065" cy="394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74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VARIABLES DE ENTORNO</a:t>
            </a:r>
            <a:endParaRPr/>
          </a:p>
        </p:txBody>
      </p:sp>
      <p:sp>
        <p:nvSpPr>
          <p:cNvPr id="412" name="Google Shape;412;p11"/>
          <p:cNvSpPr txBox="1"/>
          <p:nvPr/>
        </p:nvSpPr>
        <p:spPr>
          <a:xfrm>
            <a:off x="11722938" y="6119447"/>
            <a:ext cx="4508065" cy="344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PUERTOS Y PERFILES SPRING</a:t>
            </a:r>
            <a:endParaRPr/>
          </a:p>
        </p:txBody>
      </p:sp>
      <p:sp>
        <p:nvSpPr>
          <p:cNvPr id="413" name="Google Shape;413;p11"/>
          <p:cNvSpPr txBox="1"/>
          <p:nvPr/>
        </p:nvSpPr>
        <p:spPr>
          <a:xfrm>
            <a:off x="11722938" y="7697060"/>
            <a:ext cx="4508065" cy="364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65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AISLAMIENTO EN RAILWAY</a:t>
            </a:r>
            <a:endParaRPr/>
          </a:p>
        </p:txBody>
      </p:sp>
      <p:sp>
        <p:nvSpPr>
          <p:cNvPr id="414" name="Google Shape;414;p11"/>
          <p:cNvSpPr txBox="1"/>
          <p:nvPr/>
        </p:nvSpPr>
        <p:spPr>
          <a:xfrm>
            <a:off x="11722938" y="2980474"/>
            <a:ext cx="45081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85">
                <a:solidFill>
                  <a:srgbClr val="050A30"/>
                </a:solidFill>
              </a:rPr>
              <a:t>MICRO</a:t>
            </a:r>
            <a:r>
              <a:rPr b="1" i="0" lang="en-US" sz="2285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SERVICIO</a:t>
            </a:r>
            <a:r>
              <a:rPr b="1" lang="en-US" sz="2285">
                <a:solidFill>
                  <a:srgbClr val="050A30"/>
                </a:solidFill>
              </a:rPr>
              <a:t>S + API AI</a:t>
            </a:r>
            <a:endParaRPr/>
          </a:p>
        </p:txBody>
      </p:sp>
      <p:grpSp>
        <p:nvGrpSpPr>
          <p:cNvPr id="415" name="Google Shape;415;p11"/>
          <p:cNvGrpSpPr/>
          <p:nvPr/>
        </p:nvGrpSpPr>
        <p:grpSpPr>
          <a:xfrm>
            <a:off x="10265327" y="2415654"/>
            <a:ext cx="1082040" cy="1335469"/>
            <a:chOff x="0" y="-66675"/>
            <a:chExt cx="284982" cy="351729"/>
          </a:xfrm>
        </p:grpSpPr>
        <p:sp>
          <p:nvSpPr>
            <p:cNvPr id="416" name="Google Shape;416;p11"/>
            <p:cNvSpPr/>
            <p:nvPr/>
          </p:nvSpPr>
          <p:spPr>
            <a:xfrm>
              <a:off x="0" y="0"/>
              <a:ext cx="284982" cy="285054"/>
            </a:xfrm>
            <a:custGeom>
              <a:rect b="b" l="l" r="r" t="t"/>
              <a:pathLst>
                <a:path extrusionOk="0" h="285054" w="284982">
                  <a:moveTo>
                    <a:pt x="142491" y="0"/>
                  </a:moveTo>
                  <a:lnTo>
                    <a:pt x="142491" y="0"/>
                  </a:lnTo>
                  <a:cubicBezTo>
                    <a:pt x="221186" y="0"/>
                    <a:pt x="284982" y="63795"/>
                    <a:pt x="284982" y="142491"/>
                  </a:cubicBezTo>
                  <a:lnTo>
                    <a:pt x="284982" y="142563"/>
                  </a:lnTo>
                  <a:cubicBezTo>
                    <a:pt x="284982" y="221258"/>
                    <a:pt x="221186" y="285054"/>
                    <a:pt x="142491" y="285054"/>
                  </a:cubicBezTo>
                  <a:lnTo>
                    <a:pt x="142491" y="285054"/>
                  </a:lnTo>
                  <a:cubicBezTo>
                    <a:pt x="63795" y="285054"/>
                    <a:pt x="0" y="221258"/>
                    <a:pt x="0" y="142563"/>
                  </a:cubicBezTo>
                  <a:lnTo>
                    <a:pt x="0" y="142491"/>
                  </a:lnTo>
                  <a:cubicBezTo>
                    <a:pt x="0" y="63795"/>
                    <a:pt x="63795" y="0"/>
                    <a:pt x="142491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1"/>
            <p:cNvSpPr txBox="1"/>
            <p:nvPr/>
          </p:nvSpPr>
          <p:spPr>
            <a:xfrm>
              <a:off x="0" y="-66675"/>
              <a:ext cx="284982" cy="351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8" name="Google Shape;418;p11"/>
          <p:cNvSpPr txBox="1"/>
          <p:nvPr/>
        </p:nvSpPr>
        <p:spPr>
          <a:xfrm>
            <a:off x="10265327" y="2980474"/>
            <a:ext cx="1082040" cy="43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72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01.</a:t>
            </a:r>
            <a:endParaRPr/>
          </a:p>
        </p:txBody>
      </p:sp>
      <p:grpSp>
        <p:nvGrpSpPr>
          <p:cNvPr id="419" name="Google Shape;419;p11"/>
          <p:cNvGrpSpPr/>
          <p:nvPr/>
        </p:nvGrpSpPr>
        <p:grpSpPr>
          <a:xfrm>
            <a:off x="10265327" y="3983742"/>
            <a:ext cx="1082040" cy="1335469"/>
            <a:chOff x="0" y="-66675"/>
            <a:chExt cx="284982" cy="351729"/>
          </a:xfrm>
        </p:grpSpPr>
        <p:sp>
          <p:nvSpPr>
            <p:cNvPr id="420" name="Google Shape;420;p11"/>
            <p:cNvSpPr/>
            <p:nvPr/>
          </p:nvSpPr>
          <p:spPr>
            <a:xfrm>
              <a:off x="0" y="0"/>
              <a:ext cx="284982" cy="285054"/>
            </a:xfrm>
            <a:custGeom>
              <a:rect b="b" l="l" r="r" t="t"/>
              <a:pathLst>
                <a:path extrusionOk="0" h="285054" w="284982">
                  <a:moveTo>
                    <a:pt x="142491" y="0"/>
                  </a:moveTo>
                  <a:lnTo>
                    <a:pt x="142491" y="0"/>
                  </a:lnTo>
                  <a:cubicBezTo>
                    <a:pt x="221186" y="0"/>
                    <a:pt x="284982" y="63795"/>
                    <a:pt x="284982" y="142491"/>
                  </a:cubicBezTo>
                  <a:lnTo>
                    <a:pt x="284982" y="142563"/>
                  </a:lnTo>
                  <a:cubicBezTo>
                    <a:pt x="284982" y="221258"/>
                    <a:pt x="221186" y="285054"/>
                    <a:pt x="142491" y="285054"/>
                  </a:cubicBezTo>
                  <a:lnTo>
                    <a:pt x="142491" y="285054"/>
                  </a:lnTo>
                  <a:cubicBezTo>
                    <a:pt x="63795" y="285054"/>
                    <a:pt x="0" y="221258"/>
                    <a:pt x="0" y="142563"/>
                  </a:cubicBezTo>
                  <a:lnTo>
                    <a:pt x="0" y="142491"/>
                  </a:lnTo>
                  <a:cubicBezTo>
                    <a:pt x="0" y="63795"/>
                    <a:pt x="63795" y="0"/>
                    <a:pt x="142491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1"/>
            <p:cNvSpPr txBox="1"/>
            <p:nvPr/>
          </p:nvSpPr>
          <p:spPr>
            <a:xfrm>
              <a:off x="0" y="-66675"/>
              <a:ext cx="284982" cy="351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2" name="Google Shape;422;p11"/>
          <p:cNvSpPr txBox="1"/>
          <p:nvPr/>
        </p:nvSpPr>
        <p:spPr>
          <a:xfrm>
            <a:off x="10265327" y="4548561"/>
            <a:ext cx="1082040" cy="43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72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02.</a:t>
            </a:r>
            <a:endParaRPr/>
          </a:p>
        </p:txBody>
      </p:sp>
      <p:grpSp>
        <p:nvGrpSpPr>
          <p:cNvPr id="423" name="Google Shape;423;p11"/>
          <p:cNvGrpSpPr/>
          <p:nvPr/>
        </p:nvGrpSpPr>
        <p:grpSpPr>
          <a:xfrm>
            <a:off x="10265327" y="5551830"/>
            <a:ext cx="1082040" cy="1335469"/>
            <a:chOff x="0" y="-66675"/>
            <a:chExt cx="284982" cy="351729"/>
          </a:xfrm>
        </p:grpSpPr>
        <p:sp>
          <p:nvSpPr>
            <p:cNvPr id="424" name="Google Shape;424;p11"/>
            <p:cNvSpPr/>
            <p:nvPr/>
          </p:nvSpPr>
          <p:spPr>
            <a:xfrm>
              <a:off x="0" y="0"/>
              <a:ext cx="284982" cy="285054"/>
            </a:xfrm>
            <a:custGeom>
              <a:rect b="b" l="l" r="r" t="t"/>
              <a:pathLst>
                <a:path extrusionOk="0" h="285054" w="284982">
                  <a:moveTo>
                    <a:pt x="142491" y="0"/>
                  </a:moveTo>
                  <a:lnTo>
                    <a:pt x="142491" y="0"/>
                  </a:lnTo>
                  <a:cubicBezTo>
                    <a:pt x="221186" y="0"/>
                    <a:pt x="284982" y="63795"/>
                    <a:pt x="284982" y="142491"/>
                  </a:cubicBezTo>
                  <a:lnTo>
                    <a:pt x="284982" y="142563"/>
                  </a:lnTo>
                  <a:cubicBezTo>
                    <a:pt x="284982" y="221258"/>
                    <a:pt x="221186" y="285054"/>
                    <a:pt x="142491" y="285054"/>
                  </a:cubicBezTo>
                  <a:lnTo>
                    <a:pt x="142491" y="285054"/>
                  </a:lnTo>
                  <a:cubicBezTo>
                    <a:pt x="63795" y="285054"/>
                    <a:pt x="0" y="221258"/>
                    <a:pt x="0" y="142563"/>
                  </a:cubicBezTo>
                  <a:lnTo>
                    <a:pt x="0" y="142491"/>
                  </a:lnTo>
                  <a:cubicBezTo>
                    <a:pt x="0" y="63795"/>
                    <a:pt x="63795" y="0"/>
                    <a:pt x="142491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1"/>
            <p:cNvSpPr txBox="1"/>
            <p:nvPr/>
          </p:nvSpPr>
          <p:spPr>
            <a:xfrm>
              <a:off x="0" y="-66675"/>
              <a:ext cx="284982" cy="351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6" name="Google Shape;426;p11"/>
          <p:cNvSpPr txBox="1"/>
          <p:nvPr/>
        </p:nvSpPr>
        <p:spPr>
          <a:xfrm>
            <a:off x="10265327" y="6116649"/>
            <a:ext cx="1082040" cy="43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72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03.</a:t>
            </a:r>
            <a:endParaRPr/>
          </a:p>
        </p:txBody>
      </p:sp>
      <p:grpSp>
        <p:nvGrpSpPr>
          <p:cNvPr id="427" name="Google Shape;427;p11"/>
          <p:cNvGrpSpPr/>
          <p:nvPr/>
        </p:nvGrpSpPr>
        <p:grpSpPr>
          <a:xfrm>
            <a:off x="10265327" y="7119917"/>
            <a:ext cx="1082040" cy="1335469"/>
            <a:chOff x="0" y="-66675"/>
            <a:chExt cx="284982" cy="351729"/>
          </a:xfrm>
        </p:grpSpPr>
        <p:sp>
          <p:nvSpPr>
            <p:cNvPr id="428" name="Google Shape;428;p11"/>
            <p:cNvSpPr/>
            <p:nvPr/>
          </p:nvSpPr>
          <p:spPr>
            <a:xfrm>
              <a:off x="0" y="0"/>
              <a:ext cx="284982" cy="285054"/>
            </a:xfrm>
            <a:custGeom>
              <a:rect b="b" l="l" r="r" t="t"/>
              <a:pathLst>
                <a:path extrusionOk="0" h="285054" w="284982">
                  <a:moveTo>
                    <a:pt x="142491" y="0"/>
                  </a:moveTo>
                  <a:lnTo>
                    <a:pt x="142491" y="0"/>
                  </a:lnTo>
                  <a:cubicBezTo>
                    <a:pt x="221186" y="0"/>
                    <a:pt x="284982" y="63795"/>
                    <a:pt x="284982" y="142491"/>
                  </a:cubicBezTo>
                  <a:lnTo>
                    <a:pt x="284982" y="142563"/>
                  </a:lnTo>
                  <a:cubicBezTo>
                    <a:pt x="284982" y="221258"/>
                    <a:pt x="221186" y="285054"/>
                    <a:pt x="142491" y="285054"/>
                  </a:cubicBezTo>
                  <a:lnTo>
                    <a:pt x="142491" y="285054"/>
                  </a:lnTo>
                  <a:cubicBezTo>
                    <a:pt x="63795" y="285054"/>
                    <a:pt x="0" y="221258"/>
                    <a:pt x="0" y="142563"/>
                  </a:cubicBezTo>
                  <a:lnTo>
                    <a:pt x="0" y="142491"/>
                  </a:lnTo>
                  <a:cubicBezTo>
                    <a:pt x="0" y="63795"/>
                    <a:pt x="63795" y="0"/>
                    <a:pt x="142491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1"/>
            <p:cNvSpPr txBox="1"/>
            <p:nvPr/>
          </p:nvSpPr>
          <p:spPr>
            <a:xfrm>
              <a:off x="0" y="-66675"/>
              <a:ext cx="284982" cy="351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0" name="Google Shape;430;p11"/>
          <p:cNvSpPr txBox="1"/>
          <p:nvPr/>
        </p:nvSpPr>
        <p:spPr>
          <a:xfrm>
            <a:off x="10265327" y="7684737"/>
            <a:ext cx="1082040" cy="433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72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04.</a:t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15722836" y="9258300"/>
            <a:ext cx="2565164" cy="932787"/>
          </a:xfrm>
          <a:custGeom>
            <a:rect b="b" l="l" r="r" t="t"/>
            <a:pathLst>
              <a:path extrusionOk="0" h="932787" w="2565164">
                <a:moveTo>
                  <a:pt x="0" y="0"/>
                </a:moveTo>
                <a:lnTo>
                  <a:pt x="2565164" y="0"/>
                </a:lnTo>
                <a:lnTo>
                  <a:pt x="2565164" y="932787"/>
                </a:lnTo>
                <a:lnTo>
                  <a:pt x="0" y="932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2" name="Google Shape;432;p11"/>
          <p:cNvSpPr txBox="1"/>
          <p:nvPr/>
        </p:nvSpPr>
        <p:spPr>
          <a:xfrm>
            <a:off x="1476035" y="579568"/>
            <a:ext cx="1661759" cy="382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FarmaCode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30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4"/>
          <p:cNvSpPr/>
          <p:nvPr/>
        </p:nvSpPr>
        <p:spPr>
          <a:xfrm>
            <a:off x="13379834" y="5128802"/>
            <a:ext cx="8183623" cy="8183623"/>
          </a:xfrm>
          <a:custGeom>
            <a:rect b="b" l="l" r="r" t="t"/>
            <a:pathLst>
              <a:path extrusionOk="0" h="8183623" w="8183623">
                <a:moveTo>
                  <a:pt x="0" y="0"/>
                </a:moveTo>
                <a:lnTo>
                  <a:pt x="8183623" y="0"/>
                </a:lnTo>
                <a:lnTo>
                  <a:pt x="8183623" y="8183623"/>
                </a:lnTo>
                <a:lnTo>
                  <a:pt x="0" y="8183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8" name="Google Shape;438;p14"/>
          <p:cNvSpPr/>
          <p:nvPr/>
        </p:nvSpPr>
        <p:spPr>
          <a:xfrm>
            <a:off x="1629453" y="1997564"/>
            <a:ext cx="5922756" cy="7054988"/>
          </a:xfrm>
          <a:custGeom>
            <a:rect b="b" l="l" r="r" t="t"/>
            <a:pathLst>
              <a:path extrusionOk="0" h="1093002" w="917590">
                <a:moveTo>
                  <a:pt x="0" y="0"/>
                </a:moveTo>
                <a:lnTo>
                  <a:pt x="917590" y="0"/>
                </a:lnTo>
                <a:lnTo>
                  <a:pt x="917590" y="1093002"/>
                </a:lnTo>
                <a:lnTo>
                  <a:pt x="0" y="109300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901" l="0" r="0" t="-1901"/>
            </a:stretch>
          </a:blipFill>
          <a:ln>
            <a:noFill/>
          </a:ln>
        </p:spPr>
      </p:sp>
      <p:sp>
        <p:nvSpPr>
          <p:cNvPr id="439" name="Google Shape;439;p14"/>
          <p:cNvSpPr/>
          <p:nvPr/>
        </p:nvSpPr>
        <p:spPr>
          <a:xfrm>
            <a:off x="835402" y="664269"/>
            <a:ext cx="460249" cy="575311"/>
          </a:xfrm>
          <a:custGeom>
            <a:rect b="b" l="l" r="r" t="t"/>
            <a:pathLst>
              <a:path extrusionOk="0" h="575311" w="460249">
                <a:moveTo>
                  <a:pt x="0" y="0"/>
                </a:moveTo>
                <a:lnTo>
                  <a:pt x="460248" y="0"/>
                </a:lnTo>
                <a:lnTo>
                  <a:pt x="460248" y="575311"/>
                </a:lnTo>
                <a:lnTo>
                  <a:pt x="0" y="575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440" name="Google Shape;440;p14"/>
          <p:cNvCxnSpPr/>
          <p:nvPr/>
        </p:nvCxnSpPr>
        <p:spPr>
          <a:xfrm>
            <a:off x="8609192" y="4624629"/>
            <a:ext cx="7767683" cy="0"/>
          </a:xfrm>
          <a:prstGeom prst="straightConnector1">
            <a:avLst/>
          </a:prstGeom>
          <a:noFill/>
          <a:ln cap="flat" cmpd="sng" w="38100">
            <a:solidFill>
              <a:srgbClr val="F4F6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14"/>
          <p:cNvCxnSpPr/>
          <p:nvPr/>
        </p:nvCxnSpPr>
        <p:spPr>
          <a:xfrm>
            <a:off x="8609192" y="5544108"/>
            <a:ext cx="7767683" cy="0"/>
          </a:xfrm>
          <a:prstGeom prst="straightConnector1">
            <a:avLst/>
          </a:prstGeom>
          <a:noFill/>
          <a:ln cap="flat" cmpd="sng" w="38100">
            <a:solidFill>
              <a:srgbClr val="F4F6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14"/>
          <p:cNvCxnSpPr/>
          <p:nvPr/>
        </p:nvCxnSpPr>
        <p:spPr>
          <a:xfrm>
            <a:off x="8609192" y="6463588"/>
            <a:ext cx="7767683" cy="0"/>
          </a:xfrm>
          <a:prstGeom prst="straightConnector1">
            <a:avLst/>
          </a:prstGeom>
          <a:noFill/>
          <a:ln cap="flat" cmpd="sng" w="38100">
            <a:solidFill>
              <a:srgbClr val="F4F6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14"/>
          <p:cNvSpPr/>
          <p:nvPr/>
        </p:nvSpPr>
        <p:spPr>
          <a:xfrm>
            <a:off x="8681720" y="4862754"/>
            <a:ext cx="462280" cy="462280"/>
          </a:xfrm>
          <a:custGeom>
            <a:rect b="b" l="l" r="r" t="t"/>
            <a:pathLst>
              <a:path extrusionOk="0" h="462280" w="462280">
                <a:moveTo>
                  <a:pt x="0" y="0"/>
                </a:moveTo>
                <a:lnTo>
                  <a:pt x="462280" y="0"/>
                </a:lnTo>
                <a:lnTo>
                  <a:pt x="462280" y="462279"/>
                </a:lnTo>
                <a:lnTo>
                  <a:pt x="0" y="462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4" name="Google Shape;444;p14"/>
          <p:cNvSpPr txBox="1"/>
          <p:nvPr/>
        </p:nvSpPr>
        <p:spPr>
          <a:xfrm>
            <a:off x="9337830" y="3914389"/>
            <a:ext cx="7767683" cy="382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6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INTERFACES KOTLIN DECLARATIVAS CON RETROFIT</a:t>
            </a:r>
            <a:endParaRPr/>
          </a:p>
        </p:txBody>
      </p:sp>
      <p:sp>
        <p:nvSpPr>
          <p:cNvPr id="445" name="Google Shape;445;p14"/>
          <p:cNvSpPr txBox="1"/>
          <p:nvPr/>
        </p:nvSpPr>
        <p:spPr>
          <a:xfrm>
            <a:off x="8609192" y="2200630"/>
            <a:ext cx="8133900" cy="641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80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Integración Android-Backend</a:t>
            </a:r>
            <a:endParaRPr/>
          </a:p>
        </p:txBody>
      </p:sp>
      <p:sp>
        <p:nvSpPr>
          <p:cNvPr id="446" name="Google Shape;446;p14"/>
          <p:cNvSpPr txBox="1"/>
          <p:nvPr/>
        </p:nvSpPr>
        <p:spPr>
          <a:xfrm>
            <a:off x="9049584" y="8327174"/>
            <a:ext cx="2554278" cy="3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3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VER CÓDIGO</a:t>
            </a:r>
            <a:endParaRPr/>
          </a:p>
        </p:txBody>
      </p:sp>
      <p:sp>
        <p:nvSpPr>
          <p:cNvPr id="447" name="Google Shape;447;p14"/>
          <p:cNvSpPr txBox="1"/>
          <p:nvPr/>
        </p:nvSpPr>
        <p:spPr>
          <a:xfrm>
            <a:off x="9337830" y="4805914"/>
            <a:ext cx="7767683" cy="481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SERIALIZACIÓN JSON CON GSON/MOSHI</a:t>
            </a:r>
            <a:endParaRPr/>
          </a:p>
        </p:txBody>
      </p:sp>
      <p:sp>
        <p:nvSpPr>
          <p:cNvPr id="448" name="Google Shape;448;p14"/>
          <p:cNvSpPr txBox="1"/>
          <p:nvPr/>
        </p:nvSpPr>
        <p:spPr>
          <a:xfrm>
            <a:off x="9337830" y="5715869"/>
            <a:ext cx="776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75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COR</a:t>
            </a:r>
            <a:r>
              <a:rPr b="1" lang="en-US" sz="2675">
                <a:solidFill>
                  <a:srgbClr val="F4F6FC"/>
                </a:solidFill>
              </a:rPr>
              <a:t>O</a:t>
            </a:r>
            <a:r>
              <a:rPr b="1" i="0" lang="en-US" sz="2675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UTINAS PARA LLAMADAS ASÍNCRONAS</a:t>
            </a:r>
            <a:endParaRPr/>
          </a:p>
        </p:txBody>
      </p:sp>
      <p:sp>
        <p:nvSpPr>
          <p:cNvPr id="449" name="Google Shape;449;p14"/>
          <p:cNvSpPr txBox="1"/>
          <p:nvPr/>
        </p:nvSpPr>
        <p:spPr>
          <a:xfrm>
            <a:off x="9337830" y="6606774"/>
            <a:ext cx="7767683" cy="407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SEGURIDAD HTTPS CON CERTIFICADOS RAILWAY</a:t>
            </a: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8681720" y="3962014"/>
            <a:ext cx="462280" cy="462280"/>
          </a:xfrm>
          <a:custGeom>
            <a:rect b="b" l="l" r="r" t="t"/>
            <a:pathLst>
              <a:path extrusionOk="0" h="462280" w="462280">
                <a:moveTo>
                  <a:pt x="0" y="0"/>
                </a:moveTo>
                <a:lnTo>
                  <a:pt x="462280" y="0"/>
                </a:lnTo>
                <a:lnTo>
                  <a:pt x="462280" y="462279"/>
                </a:lnTo>
                <a:lnTo>
                  <a:pt x="0" y="462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1" name="Google Shape;451;p14"/>
          <p:cNvSpPr/>
          <p:nvPr/>
        </p:nvSpPr>
        <p:spPr>
          <a:xfrm>
            <a:off x="8681720" y="5772708"/>
            <a:ext cx="462280" cy="462280"/>
          </a:xfrm>
          <a:custGeom>
            <a:rect b="b" l="l" r="r" t="t"/>
            <a:pathLst>
              <a:path extrusionOk="0" h="462280" w="462280">
                <a:moveTo>
                  <a:pt x="0" y="0"/>
                </a:moveTo>
                <a:lnTo>
                  <a:pt x="462280" y="0"/>
                </a:lnTo>
                <a:lnTo>
                  <a:pt x="462280" y="462280"/>
                </a:lnTo>
                <a:lnTo>
                  <a:pt x="0" y="462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2" name="Google Shape;452;p14"/>
          <p:cNvSpPr/>
          <p:nvPr/>
        </p:nvSpPr>
        <p:spPr>
          <a:xfrm>
            <a:off x="8681720" y="6682663"/>
            <a:ext cx="462280" cy="462280"/>
          </a:xfrm>
          <a:custGeom>
            <a:rect b="b" l="l" r="r" t="t"/>
            <a:pathLst>
              <a:path extrusionOk="0" h="462280" w="462280">
                <a:moveTo>
                  <a:pt x="0" y="0"/>
                </a:moveTo>
                <a:lnTo>
                  <a:pt x="462280" y="0"/>
                </a:lnTo>
                <a:lnTo>
                  <a:pt x="462280" y="462280"/>
                </a:lnTo>
                <a:lnTo>
                  <a:pt x="0" y="462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3" name="Google Shape;453;p14"/>
          <p:cNvSpPr/>
          <p:nvPr/>
        </p:nvSpPr>
        <p:spPr>
          <a:xfrm>
            <a:off x="15722836" y="9258300"/>
            <a:ext cx="2565164" cy="932787"/>
          </a:xfrm>
          <a:custGeom>
            <a:rect b="b" l="l" r="r" t="t"/>
            <a:pathLst>
              <a:path extrusionOk="0" h="932787" w="2565164">
                <a:moveTo>
                  <a:pt x="0" y="0"/>
                </a:moveTo>
                <a:lnTo>
                  <a:pt x="2565164" y="0"/>
                </a:lnTo>
                <a:lnTo>
                  <a:pt x="2565164" y="932787"/>
                </a:lnTo>
                <a:lnTo>
                  <a:pt x="0" y="932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4" name="Google Shape;454;p14"/>
          <p:cNvSpPr txBox="1"/>
          <p:nvPr/>
        </p:nvSpPr>
        <p:spPr>
          <a:xfrm>
            <a:off x="1476035" y="579568"/>
            <a:ext cx="1661759" cy="382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FarmaCode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30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2"/>
          <p:cNvSpPr/>
          <p:nvPr/>
        </p:nvSpPr>
        <p:spPr>
          <a:xfrm>
            <a:off x="-2947616" y="4934677"/>
            <a:ext cx="8183623" cy="8183623"/>
          </a:xfrm>
          <a:custGeom>
            <a:rect b="b" l="l" r="r" t="t"/>
            <a:pathLst>
              <a:path extrusionOk="0" h="8183623" w="8183623">
                <a:moveTo>
                  <a:pt x="0" y="0"/>
                </a:moveTo>
                <a:lnTo>
                  <a:pt x="8183623" y="0"/>
                </a:lnTo>
                <a:lnTo>
                  <a:pt x="8183623" y="8183623"/>
                </a:lnTo>
                <a:lnTo>
                  <a:pt x="0" y="8183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0" name="Google Shape;460;p12"/>
          <p:cNvSpPr/>
          <p:nvPr/>
        </p:nvSpPr>
        <p:spPr>
          <a:xfrm>
            <a:off x="835402" y="664269"/>
            <a:ext cx="460249" cy="575311"/>
          </a:xfrm>
          <a:custGeom>
            <a:rect b="b" l="l" r="r" t="t"/>
            <a:pathLst>
              <a:path extrusionOk="0" h="575311" w="460249">
                <a:moveTo>
                  <a:pt x="0" y="0"/>
                </a:moveTo>
                <a:lnTo>
                  <a:pt x="460248" y="0"/>
                </a:lnTo>
                <a:lnTo>
                  <a:pt x="460248" y="575311"/>
                </a:lnTo>
                <a:lnTo>
                  <a:pt x="0" y="575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61" name="Google Shape;461;p12"/>
          <p:cNvGrpSpPr/>
          <p:nvPr/>
        </p:nvGrpSpPr>
        <p:grpSpPr>
          <a:xfrm>
            <a:off x="10016140" y="2398457"/>
            <a:ext cx="1420271" cy="1610954"/>
            <a:chOff x="0" y="-66675"/>
            <a:chExt cx="374063" cy="424284"/>
          </a:xfrm>
        </p:grpSpPr>
        <p:sp>
          <p:nvSpPr>
            <p:cNvPr id="462" name="Google Shape;462;p12"/>
            <p:cNvSpPr/>
            <p:nvPr/>
          </p:nvSpPr>
          <p:spPr>
            <a:xfrm>
              <a:off x="0" y="0"/>
              <a:ext cx="374063" cy="357609"/>
            </a:xfrm>
            <a:custGeom>
              <a:rect b="b" l="l" r="r" t="t"/>
              <a:pathLst>
                <a:path extrusionOk="0" h="357609" w="374063">
                  <a:moveTo>
                    <a:pt x="119922" y="0"/>
                  </a:moveTo>
                  <a:lnTo>
                    <a:pt x="254141" y="0"/>
                  </a:lnTo>
                  <a:cubicBezTo>
                    <a:pt x="320372" y="0"/>
                    <a:pt x="374063" y="53691"/>
                    <a:pt x="374063" y="119922"/>
                  </a:cubicBezTo>
                  <a:lnTo>
                    <a:pt x="374063" y="237687"/>
                  </a:lnTo>
                  <a:cubicBezTo>
                    <a:pt x="374063" y="303918"/>
                    <a:pt x="320372" y="357609"/>
                    <a:pt x="254141" y="357609"/>
                  </a:cubicBezTo>
                  <a:lnTo>
                    <a:pt x="119922" y="357609"/>
                  </a:lnTo>
                  <a:cubicBezTo>
                    <a:pt x="53691" y="357609"/>
                    <a:pt x="0" y="303918"/>
                    <a:pt x="0" y="237687"/>
                  </a:cubicBezTo>
                  <a:lnTo>
                    <a:pt x="0" y="119922"/>
                  </a:lnTo>
                  <a:cubicBezTo>
                    <a:pt x="0" y="53691"/>
                    <a:pt x="53691" y="0"/>
                    <a:pt x="119922" y="0"/>
                  </a:cubicBez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2"/>
            <p:cNvSpPr txBox="1"/>
            <p:nvPr/>
          </p:nvSpPr>
          <p:spPr>
            <a:xfrm>
              <a:off x="0" y="-66675"/>
              <a:ext cx="374063" cy="4242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4" name="Google Shape;464;p12"/>
          <p:cNvGrpSpPr/>
          <p:nvPr/>
        </p:nvGrpSpPr>
        <p:grpSpPr>
          <a:xfrm>
            <a:off x="10016140" y="4671982"/>
            <a:ext cx="1420271" cy="1610954"/>
            <a:chOff x="0" y="-66675"/>
            <a:chExt cx="374063" cy="424284"/>
          </a:xfrm>
        </p:grpSpPr>
        <p:sp>
          <p:nvSpPr>
            <p:cNvPr id="465" name="Google Shape;465;p12"/>
            <p:cNvSpPr/>
            <p:nvPr/>
          </p:nvSpPr>
          <p:spPr>
            <a:xfrm>
              <a:off x="0" y="0"/>
              <a:ext cx="374063" cy="357609"/>
            </a:xfrm>
            <a:custGeom>
              <a:rect b="b" l="l" r="r" t="t"/>
              <a:pathLst>
                <a:path extrusionOk="0" h="357609" w="374063">
                  <a:moveTo>
                    <a:pt x="119922" y="0"/>
                  </a:moveTo>
                  <a:lnTo>
                    <a:pt x="254141" y="0"/>
                  </a:lnTo>
                  <a:cubicBezTo>
                    <a:pt x="320372" y="0"/>
                    <a:pt x="374063" y="53691"/>
                    <a:pt x="374063" y="119922"/>
                  </a:cubicBezTo>
                  <a:lnTo>
                    <a:pt x="374063" y="237687"/>
                  </a:lnTo>
                  <a:cubicBezTo>
                    <a:pt x="374063" y="303918"/>
                    <a:pt x="320372" y="357609"/>
                    <a:pt x="254141" y="357609"/>
                  </a:cubicBezTo>
                  <a:lnTo>
                    <a:pt x="119922" y="357609"/>
                  </a:lnTo>
                  <a:cubicBezTo>
                    <a:pt x="53691" y="357609"/>
                    <a:pt x="0" y="303918"/>
                    <a:pt x="0" y="237687"/>
                  </a:cubicBezTo>
                  <a:lnTo>
                    <a:pt x="0" y="119922"/>
                  </a:lnTo>
                  <a:cubicBezTo>
                    <a:pt x="0" y="53691"/>
                    <a:pt x="53691" y="0"/>
                    <a:pt x="119922" y="0"/>
                  </a:cubicBez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2"/>
            <p:cNvSpPr txBox="1"/>
            <p:nvPr/>
          </p:nvSpPr>
          <p:spPr>
            <a:xfrm>
              <a:off x="0" y="-66675"/>
              <a:ext cx="374063" cy="4242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7" name="Google Shape;467;p12"/>
          <p:cNvGrpSpPr/>
          <p:nvPr/>
        </p:nvGrpSpPr>
        <p:grpSpPr>
          <a:xfrm>
            <a:off x="10016140" y="6945508"/>
            <a:ext cx="1420271" cy="1610954"/>
            <a:chOff x="0" y="-66675"/>
            <a:chExt cx="374063" cy="424284"/>
          </a:xfrm>
        </p:grpSpPr>
        <p:sp>
          <p:nvSpPr>
            <p:cNvPr id="468" name="Google Shape;468;p12"/>
            <p:cNvSpPr/>
            <p:nvPr/>
          </p:nvSpPr>
          <p:spPr>
            <a:xfrm>
              <a:off x="0" y="0"/>
              <a:ext cx="374063" cy="357609"/>
            </a:xfrm>
            <a:custGeom>
              <a:rect b="b" l="l" r="r" t="t"/>
              <a:pathLst>
                <a:path extrusionOk="0" h="357609" w="374063">
                  <a:moveTo>
                    <a:pt x="119922" y="0"/>
                  </a:moveTo>
                  <a:lnTo>
                    <a:pt x="254141" y="0"/>
                  </a:lnTo>
                  <a:cubicBezTo>
                    <a:pt x="320372" y="0"/>
                    <a:pt x="374063" y="53691"/>
                    <a:pt x="374063" y="119922"/>
                  </a:cubicBezTo>
                  <a:lnTo>
                    <a:pt x="374063" y="237687"/>
                  </a:lnTo>
                  <a:cubicBezTo>
                    <a:pt x="374063" y="303918"/>
                    <a:pt x="320372" y="357609"/>
                    <a:pt x="254141" y="357609"/>
                  </a:cubicBezTo>
                  <a:lnTo>
                    <a:pt x="119922" y="357609"/>
                  </a:lnTo>
                  <a:cubicBezTo>
                    <a:pt x="53691" y="357609"/>
                    <a:pt x="0" y="303918"/>
                    <a:pt x="0" y="237687"/>
                  </a:cubicBezTo>
                  <a:lnTo>
                    <a:pt x="0" y="119922"/>
                  </a:lnTo>
                  <a:cubicBezTo>
                    <a:pt x="0" y="53691"/>
                    <a:pt x="53691" y="0"/>
                    <a:pt x="119922" y="0"/>
                  </a:cubicBez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2"/>
            <p:cNvSpPr txBox="1"/>
            <p:nvPr/>
          </p:nvSpPr>
          <p:spPr>
            <a:xfrm>
              <a:off x="0" y="-66675"/>
              <a:ext cx="374063" cy="4242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0" name="Google Shape;470;p12"/>
          <p:cNvSpPr/>
          <p:nvPr/>
        </p:nvSpPr>
        <p:spPr>
          <a:xfrm>
            <a:off x="2887178" y="3409658"/>
            <a:ext cx="6647415" cy="7774754"/>
          </a:xfrm>
          <a:custGeom>
            <a:rect b="b" l="l" r="r" t="t"/>
            <a:pathLst>
              <a:path extrusionOk="0" h="7774754" w="6647415">
                <a:moveTo>
                  <a:pt x="0" y="0"/>
                </a:moveTo>
                <a:lnTo>
                  <a:pt x="6647415" y="0"/>
                </a:lnTo>
                <a:lnTo>
                  <a:pt x="6647415" y="7774755"/>
                </a:lnTo>
                <a:lnTo>
                  <a:pt x="0" y="7774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1" name="Google Shape;471;p12"/>
          <p:cNvSpPr/>
          <p:nvPr/>
        </p:nvSpPr>
        <p:spPr>
          <a:xfrm>
            <a:off x="10404839" y="2718781"/>
            <a:ext cx="679967" cy="1259611"/>
          </a:xfrm>
          <a:custGeom>
            <a:rect b="b" l="l" r="r" t="t"/>
            <a:pathLst>
              <a:path extrusionOk="0" h="1259611" w="679967">
                <a:moveTo>
                  <a:pt x="0" y="0"/>
                </a:moveTo>
                <a:lnTo>
                  <a:pt x="679967" y="0"/>
                </a:lnTo>
                <a:lnTo>
                  <a:pt x="679967" y="1259611"/>
                </a:lnTo>
                <a:lnTo>
                  <a:pt x="0" y="1259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2" name="Google Shape;472;p12"/>
          <p:cNvSpPr/>
          <p:nvPr/>
        </p:nvSpPr>
        <p:spPr>
          <a:xfrm>
            <a:off x="10004836" y="5146833"/>
            <a:ext cx="1362529" cy="889739"/>
          </a:xfrm>
          <a:custGeom>
            <a:rect b="b" l="l" r="r" t="t"/>
            <a:pathLst>
              <a:path extrusionOk="0" h="889739" w="1362529">
                <a:moveTo>
                  <a:pt x="0" y="0"/>
                </a:moveTo>
                <a:lnTo>
                  <a:pt x="1362528" y="0"/>
                </a:lnTo>
                <a:lnTo>
                  <a:pt x="1362528" y="889739"/>
                </a:lnTo>
                <a:lnTo>
                  <a:pt x="0" y="8897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3" name="Google Shape;473;p12"/>
          <p:cNvSpPr/>
          <p:nvPr/>
        </p:nvSpPr>
        <p:spPr>
          <a:xfrm>
            <a:off x="10196339" y="6936937"/>
            <a:ext cx="1053566" cy="1884471"/>
          </a:xfrm>
          <a:custGeom>
            <a:rect b="b" l="l" r="r" t="t"/>
            <a:pathLst>
              <a:path extrusionOk="0" h="1884471" w="1053566">
                <a:moveTo>
                  <a:pt x="0" y="0"/>
                </a:moveTo>
                <a:lnTo>
                  <a:pt x="1053566" y="0"/>
                </a:lnTo>
                <a:lnTo>
                  <a:pt x="1053566" y="1884471"/>
                </a:lnTo>
                <a:lnTo>
                  <a:pt x="0" y="1884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4" name="Google Shape;474;p12"/>
          <p:cNvSpPr txBox="1"/>
          <p:nvPr/>
        </p:nvSpPr>
        <p:spPr>
          <a:xfrm>
            <a:off x="1476035" y="579568"/>
            <a:ext cx="1661759" cy="382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FarmaCode</a:t>
            </a:r>
            <a:endParaRPr/>
          </a:p>
        </p:txBody>
      </p:sp>
      <p:sp>
        <p:nvSpPr>
          <p:cNvPr id="475" name="Google Shape;475;p12"/>
          <p:cNvSpPr txBox="1"/>
          <p:nvPr/>
        </p:nvSpPr>
        <p:spPr>
          <a:xfrm>
            <a:off x="1376180" y="2334463"/>
            <a:ext cx="7212118" cy="2151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Integración OCR con ML Kit</a:t>
            </a:r>
            <a:endParaRPr/>
          </a:p>
        </p:txBody>
      </p:sp>
      <p:sp>
        <p:nvSpPr>
          <p:cNvPr id="476" name="Google Shape;476;p12"/>
          <p:cNvSpPr txBox="1"/>
          <p:nvPr/>
        </p:nvSpPr>
        <p:spPr>
          <a:xfrm>
            <a:off x="11851679" y="2651614"/>
            <a:ext cx="4866925" cy="364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25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PROCESAMIENTO ON-DEVICE</a:t>
            </a:r>
            <a:endParaRPr/>
          </a:p>
        </p:txBody>
      </p:sp>
      <p:sp>
        <p:nvSpPr>
          <p:cNvPr id="477" name="Google Shape;477;p12"/>
          <p:cNvSpPr txBox="1"/>
          <p:nvPr/>
        </p:nvSpPr>
        <p:spPr>
          <a:xfrm>
            <a:off x="11851679" y="4934664"/>
            <a:ext cx="4248626" cy="30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6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FLUJO DE RECONOCIMIENTO</a:t>
            </a:r>
            <a:endParaRPr/>
          </a:p>
        </p:txBody>
      </p:sp>
      <p:sp>
        <p:nvSpPr>
          <p:cNvPr id="478" name="Google Shape;478;p12"/>
          <p:cNvSpPr txBox="1"/>
          <p:nvPr/>
        </p:nvSpPr>
        <p:spPr>
          <a:xfrm>
            <a:off x="11851679" y="7208190"/>
            <a:ext cx="4549003" cy="394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5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FEEDBACK VISUAL</a:t>
            </a:r>
            <a:endParaRPr/>
          </a:p>
        </p:txBody>
      </p:sp>
      <p:sp>
        <p:nvSpPr>
          <p:cNvPr id="479" name="Google Shape;479;p12"/>
          <p:cNvSpPr txBox="1"/>
          <p:nvPr/>
        </p:nvSpPr>
        <p:spPr>
          <a:xfrm>
            <a:off x="11856797" y="3236691"/>
            <a:ext cx="4861807" cy="772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Rápido y privado, sin envío de imágenes a servidores externos.</a:t>
            </a:r>
            <a:endParaRPr/>
          </a:p>
        </p:txBody>
      </p:sp>
      <p:sp>
        <p:nvSpPr>
          <p:cNvPr id="480" name="Google Shape;480;p12"/>
          <p:cNvSpPr txBox="1"/>
          <p:nvPr/>
        </p:nvSpPr>
        <p:spPr>
          <a:xfrm>
            <a:off x="11856797" y="5510217"/>
            <a:ext cx="4861807" cy="772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Captura cámara → ML Kit extrae texto → normalización → envío a backend.</a:t>
            </a:r>
            <a:endParaRPr/>
          </a:p>
        </p:txBody>
      </p:sp>
      <p:sp>
        <p:nvSpPr>
          <p:cNvPr id="481" name="Google Shape;481;p12"/>
          <p:cNvSpPr txBox="1"/>
          <p:nvPr/>
        </p:nvSpPr>
        <p:spPr>
          <a:xfrm>
            <a:off x="11856797" y="7783742"/>
            <a:ext cx="4861807" cy="772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Indicadores en tiempo real del estado de escaneo en la app.</a:t>
            </a:r>
            <a:endParaRPr/>
          </a:p>
        </p:txBody>
      </p:sp>
      <p:sp>
        <p:nvSpPr>
          <p:cNvPr id="482" name="Google Shape;482;p12"/>
          <p:cNvSpPr/>
          <p:nvPr/>
        </p:nvSpPr>
        <p:spPr>
          <a:xfrm>
            <a:off x="15722836" y="9258300"/>
            <a:ext cx="2565164" cy="932787"/>
          </a:xfrm>
          <a:custGeom>
            <a:rect b="b" l="l" r="r" t="t"/>
            <a:pathLst>
              <a:path extrusionOk="0" h="932787" w="2565164">
                <a:moveTo>
                  <a:pt x="0" y="0"/>
                </a:moveTo>
                <a:lnTo>
                  <a:pt x="2565164" y="0"/>
                </a:lnTo>
                <a:lnTo>
                  <a:pt x="2565164" y="932787"/>
                </a:lnTo>
                <a:lnTo>
                  <a:pt x="0" y="932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30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3"/>
          <p:cNvSpPr/>
          <p:nvPr/>
        </p:nvSpPr>
        <p:spPr>
          <a:xfrm>
            <a:off x="13618084" y="1717627"/>
            <a:ext cx="8183623" cy="8183623"/>
          </a:xfrm>
          <a:custGeom>
            <a:rect b="b" l="l" r="r" t="t"/>
            <a:pathLst>
              <a:path extrusionOk="0" h="8183623" w="8183623">
                <a:moveTo>
                  <a:pt x="0" y="0"/>
                </a:moveTo>
                <a:lnTo>
                  <a:pt x="8183623" y="0"/>
                </a:lnTo>
                <a:lnTo>
                  <a:pt x="8183623" y="8183623"/>
                </a:lnTo>
                <a:lnTo>
                  <a:pt x="0" y="8183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8" name="Google Shape;488;p13"/>
          <p:cNvSpPr/>
          <p:nvPr/>
        </p:nvSpPr>
        <p:spPr>
          <a:xfrm>
            <a:off x="-3513616" y="1310352"/>
            <a:ext cx="8183623" cy="8183623"/>
          </a:xfrm>
          <a:custGeom>
            <a:rect b="b" l="l" r="r" t="t"/>
            <a:pathLst>
              <a:path extrusionOk="0" h="8183623" w="8183623">
                <a:moveTo>
                  <a:pt x="0" y="0"/>
                </a:moveTo>
                <a:lnTo>
                  <a:pt x="8183623" y="0"/>
                </a:lnTo>
                <a:lnTo>
                  <a:pt x="8183623" y="8183623"/>
                </a:lnTo>
                <a:lnTo>
                  <a:pt x="0" y="8183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9" name="Google Shape;489;p13"/>
          <p:cNvSpPr/>
          <p:nvPr/>
        </p:nvSpPr>
        <p:spPr>
          <a:xfrm>
            <a:off x="835402" y="664269"/>
            <a:ext cx="460249" cy="575311"/>
          </a:xfrm>
          <a:custGeom>
            <a:rect b="b" l="l" r="r" t="t"/>
            <a:pathLst>
              <a:path extrusionOk="0" h="575311" w="460249">
                <a:moveTo>
                  <a:pt x="0" y="0"/>
                </a:moveTo>
                <a:lnTo>
                  <a:pt x="460248" y="0"/>
                </a:lnTo>
                <a:lnTo>
                  <a:pt x="460248" y="575311"/>
                </a:lnTo>
                <a:lnTo>
                  <a:pt x="0" y="575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90" name="Google Shape;490;p13"/>
          <p:cNvGrpSpPr/>
          <p:nvPr/>
        </p:nvGrpSpPr>
        <p:grpSpPr>
          <a:xfrm>
            <a:off x="2995874" y="3801183"/>
            <a:ext cx="2920812" cy="3201974"/>
            <a:chOff x="0" y="-66675"/>
            <a:chExt cx="1114369" cy="1221640"/>
          </a:xfrm>
        </p:grpSpPr>
        <p:sp>
          <p:nvSpPr>
            <p:cNvPr id="491" name="Google Shape;491;p13"/>
            <p:cNvSpPr/>
            <p:nvPr/>
          </p:nvSpPr>
          <p:spPr>
            <a:xfrm>
              <a:off x="0" y="0"/>
              <a:ext cx="1114369" cy="1154965"/>
            </a:xfrm>
            <a:custGeom>
              <a:rect b="b" l="l" r="r" t="t"/>
              <a:pathLst>
                <a:path extrusionOk="0" h="1154965" w="1114369">
                  <a:moveTo>
                    <a:pt x="90121" y="0"/>
                  </a:moveTo>
                  <a:lnTo>
                    <a:pt x="1024249" y="0"/>
                  </a:lnTo>
                  <a:cubicBezTo>
                    <a:pt x="1048150" y="0"/>
                    <a:pt x="1071073" y="9495"/>
                    <a:pt x="1087974" y="26396"/>
                  </a:cubicBezTo>
                  <a:cubicBezTo>
                    <a:pt x="1104875" y="43297"/>
                    <a:pt x="1114369" y="66219"/>
                    <a:pt x="1114369" y="90121"/>
                  </a:cubicBezTo>
                  <a:lnTo>
                    <a:pt x="1114369" y="1064845"/>
                  </a:lnTo>
                  <a:cubicBezTo>
                    <a:pt x="1114369" y="1088746"/>
                    <a:pt x="1104875" y="1111669"/>
                    <a:pt x="1087974" y="1128570"/>
                  </a:cubicBezTo>
                  <a:cubicBezTo>
                    <a:pt x="1071073" y="1145470"/>
                    <a:pt x="1048150" y="1154965"/>
                    <a:pt x="1024249" y="1154965"/>
                  </a:cubicBezTo>
                  <a:lnTo>
                    <a:pt x="90121" y="1154965"/>
                  </a:lnTo>
                  <a:cubicBezTo>
                    <a:pt x="66219" y="1154965"/>
                    <a:pt x="43297" y="1145470"/>
                    <a:pt x="26396" y="1128570"/>
                  </a:cubicBezTo>
                  <a:cubicBezTo>
                    <a:pt x="9495" y="1111669"/>
                    <a:pt x="0" y="1088746"/>
                    <a:pt x="0" y="1064845"/>
                  </a:cubicBezTo>
                  <a:lnTo>
                    <a:pt x="0" y="90121"/>
                  </a:lnTo>
                  <a:cubicBezTo>
                    <a:pt x="0" y="66219"/>
                    <a:pt x="9495" y="43297"/>
                    <a:pt x="26396" y="26396"/>
                  </a:cubicBezTo>
                  <a:cubicBezTo>
                    <a:pt x="43297" y="9495"/>
                    <a:pt x="66219" y="0"/>
                    <a:pt x="90121" y="0"/>
                  </a:cubicBez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3"/>
            <p:cNvSpPr txBox="1"/>
            <p:nvPr/>
          </p:nvSpPr>
          <p:spPr>
            <a:xfrm>
              <a:off x="0" y="-66675"/>
              <a:ext cx="1114369" cy="1221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3" name="Google Shape;493;p13"/>
          <p:cNvGrpSpPr/>
          <p:nvPr/>
        </p:nvGrpSpPr>
        <p:grpSpPr>
          <a:xfrm>
            <a:off x="7575831" y="3801183"/>
            <a:ext cx="2920812" cy="3201974"/>
            <a:chOff x="0" y="-66675"/>
            <a:chExt cx="1114369" cy="1221640"/>
          </a:xfrm>
        </p:grpSpPr>
        <p:sp>
          <p:nvSpPr>
            <p:cNvPr id="494" name="Google Shape;494;p13"/>
            <p:cNvSpPr/>
            <p:nvPr/>
          </p:nvSpPr>
          <p:spPr>
            <a:xfrm>
              <a:off x="0" y="0"/>
              <a:ext cx="1114369" cy="1154965"/>
            </a:xfrm>
            <a:custGeom>
              <a:rect b="b" l="l" r="r" t="t"/>
              <a:pathLst>
                <a:path extrusionOk="0" h="1154965" w="1114369">
                  <a:moveTo>
                    <a:pt x="90121" y="0"/>
                  </a:moveTo>
                  <a:lnTo>
                    <a:pt x="1024249" y="0"/>
                  </a:lnTo>
                  <a:cubicBezTo>
                    <a:pt x="1048150" y="0"/>
                    <a:pt x="1071073" y="9495"/>
                    <a:pt x="1087974" y="26396"/>
                  </a:cubicBezTo>
                  <a:cubicBezTo>
                    <a:pt x="1104875" y="43297"/>
                    <a:pt x="1114369" y="66219"/>
                    <a:pt x="1114369" y="90121"/>
                  </a:cubicBezTo>
                  <a:lnTo>
                    <a:pt x="1114369" y="1064845"/>
                  </a:lnTo>
                  <a:cubicBezTo>
                    <a:pt x="1114369" y="1088746"/>
                    <a:pt x="1104875" y="1111669"/>
                    <a:pt x="1087974" y="1128570"/>
                  </a:cubicBezTo>
                  <a:cubicBezTo>
                    <a:pt x="1071073" y="1145470"/>
                    <a:pt x="1048150" y="1154965"/>
                    <a:pt x="1024249" y="1154965"/>
                  </a:cubicBezTo>
                  <a:lnTo>
                    <a:pt x="90121" y="1154965"/>
                  </a:lnTo>
                  <a:cubicBezTo>
                    <a:pt x="66219" y="1154965"/>
                    <a:pt x="43297" y="1145470"/>
                    <a:pt x="26396" y="1128570"/>
                  </a:cubicBezTo>
                  <a:cubicBezTo>
                    <a:pt x="9495" y="1111669"/>
                    <a:pt x="0" y="1088746"/>
                    <a:pt x="0" y="1064845"/>
                  </a:cubicBezTo>
                  <a:lnTo>
                    <a:pt x="0" y="90121"/>
                  </a:lnTo>
                  <a:cubicBezTo>
                    <a:pt x="0" y="66219"/>
                    <a:pt x="9495" y="43297"/>
                    <a:pt x="26396" y="26396"/>
                  </a:cubicBezTo>
                  <a:cubicBezTo>
                    <a:pt x="43297" y="9495"/>
                    <a:pt x="66219" y="0"/>
                    <a:pt x="90121" y="0"/>
                  </a:cubicBez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3"/>
            <p:cNvSpPr txBox="1"/>
            <p:nvPr/>
          </p:nvSpPr>
          <p:spPr>
            <a:xfrm>
              <a:off x="0" y="-66675"/>
              <a:ext cx="1114369" cy="1221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6" name="Google Shape;496;p13"/>
          <p:cNvGrpSpPr/>
          <p:nvPr/>
        </p:nvGrpSpPr>
        <p:grpSpPr>
          <a:xfrm>
            <a:off x="12359415" y="3801183"/>
            <a:ext cx="2920812" cy="3201974"/>
            <a:chOff x="0" y="-66675"/>
            <a:chExt cx="1114369" cy="1221640"/>
          </a:xfrm>
        </p:grpSpPr>
        <p:sp>
          <p:nvSpPr>
            <p:cNvPr id="497" name="Google Shape;497;p13"/>
            <p:cNvSpPr/>
            <p:nvPr/>
          </p:nvSpPr>
          <p:spPr>
            <a:xfrm>
              <a:off x="0" y="0"/>
              <a:ext cx="1114369" cy="1154965"/>
            </a:xfrm>
            <a:custGeom>
              <a:rect b="b" l="l" r="r" t="t"/>
              <a:pathLst>
                <a:path extrusionOk="0" h="1154965" w="1114369">
                  <a:moveTo>
                    <a:pt x="90121" y="0"/>
                  </a:moveTo>
                  <a:lnTo>
                    <a:pt x="1024249" y="0"/>
                  </a:lnTo>
                  <a:cubicBezTo>
                    <a:pt x="1048150" y="0"/>
                    <a:pt x="1071073" y="9495"/>
                    <a:pt x="1087974" y="26396"/>
                  </a:cubicBezTo>
                  <a:cubicBezTo>
                    <a:pt x="1104875" y="43297"/>
                    <a:pt x="1114369" y="66219"/>
                    <a:pt x="1114369" y="90121"/>
                  </a:cubicBezTo>
                  <a:lnTo>
                    <a:pt x="1114369" y="1064845"/>
                  </a:lnTo>
                  <a:cubicBezTo>
                    <a:pt x="1114369" y="1088746"/>
                    <a:pt x="1104875" y="1111669"/>
                    <a:pt x="1087974" y="1128570"/>
                  </a:cubicBezTo>
                  <a:cubicBezTo>
                    <a:pt x="1071073" y="1145470"/>
                    <a:pt x="1048150" y="1154965"/>
                    <a:pt x="1024249" y="1154965"/>
                  </a:cubicBezTo>
                  <a:lnTo>
                    <a:pt x="90121" y="1154965"/>
                  </a:lnTo>
                  <a:cubicBezTo>
                    <a:pt x="66219" y="1154965"/>
                    <a:pt x="43297" y="1145470"/>
                    <a:pt x="26396" y="1128570"/>
                  </a:cubicBezTo>
                  <a:cubicBezTo>
                    <a:pt x="9495" y="1111669"/>
                    <a:pt x="0" y="1088746"/>
                    <a:pt x="0" y="1064845"/>
                  </a:cubicBezTo>
                  <a:lnTo>
                    <a:pt x="0" y="90121"/>
                  </a:lnTo>
                  <a:cubicBezTo>
                    <a:pt x="0" y="66219"/>
                    <a:pt x="9495" y="43297"/>
                    <a:pt x="26396" y="26396"/>
                  </a:cubicBezTo>
                  <a:cubicBezTo>
                    <a:pt x="43297" y="9495"/>
                    <a:pt x="66219" y="0"/>
                    <a:pt x="90121" y="0"/>
                  </a:cubicBezTo>
                  <a:close/>
                </a:path>
              </a:pathLst>
            </a:custGeom>
            <a:solidFill>
              <a:srgbClr val="5C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3"/>
            <p:cNvSpPr txBox="1"/>
            <p:nvPr/>
          </p:nvSpPr>
          <p:spPr>
            <a:xfrm>
              <a:off x="0" y="-66675"/>
              <a:ext cx="1114369" cy="1221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9" name="Google Shape;499;p13"/>
          <p:cNvSpPr/>
          <p:nvPr/>
        </p:nvSpPr>
        <p:spPr>
          <a:xfrm>
            <a:off x="3824193" y="4377273"/>
            <a:ext cx="1349971" cy="1479420"/>
          </a:xfrm>
          <a:custGeom>
            <a:rect b="b" l="l" r="r" t="t"/>
            <a:pathLst>
              <a:path extrusionOk="0" h="1479420" w="1349971">
                <a:moveTo>
                  <a:pt x="0" y="0"/>
                </a:moveTo>
                <a:lnTo>
                  <a:pt x="1349970" y="0"/>
                </a:lnTo>
                <a:lnTo>
                  <a:pt x="1349970" y="1479420"/>
                </a:lnTo>
                <a:lnTo>
                  <a:pt x="0" y="147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0" name="Google Shape;500;p13"/>
          <p:cNvSpPr/>
          <p:nvPr/>
        </p:nvSpPr>
        <p:spPr>
          <a:xfrm>
            <a:off x="8477169" y="4505184"/>
            <a:ext cx="1084633" cy="1254161"/>
          </a:xfrm>
          <a:custGeom>
            <a:rect b="b" l="l" r="r" t="t"/>
            <a:pathLst>
              <a:path extrusionOk="0" h="1254161" w="1084633">
                <a:moveTo>
                  <a:pt x="0" y="0"/>
                </a:moveTo>
                <a:lnTo>
                  <a:pt x="1084633" y="0"/>
                </a:lnTo>
                <a:lnTo>
                  <a:pt x="1084633" y="1254161"/>
                </a:lnTo>
                <a:lnTo>
                  <a:pt x="0" y="12541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1" name="Google Shape;501;p13"/>
          <p:cNvSpPr txBox="1"/>
          <p:nvPr/>
        </p:nvSpPr>
        <p:spPr>
          <a:xfrm>
            <a:off x="2538525" y="2040302"/>
            <a:ext cx="13210950" cy="897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6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Integración con Gemini API Google</a:t>
            </a:r>
            <a:endParaRPr/>
          </a:p>
        </p:txBody>
      </p:sp>
      <p:sp>
        <p:nvSpPr>
          <p:cNvPr id="502" name="Google Shape;502;p13"/>
          <p:cNvSpPr txBox="1"/>
          <p:nvPr/>
        </p:nvSpPr>
        <p:spPr>
          <a:xfrm>
            <a:off x="3270295" y="6000017"/>
            <a:ext cx="2398271" cy="291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1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46" u="none" cap="none" strike="noStrike">
                <a:solidFill>
                  <a:srgbClr val="12229D"/>
                </a:solidFill>
                <a:latin typeface="Arial"/>
                <a:ea typeface="Arial"/>
                <a:cs typeface="Arial"/>
                <a:sym typeface="Arial"/>
              </a:rPr>
              <a:t>Prompt Estructurado</a:t>
            </a:r>
            <a:endParaRPr/>
          </a:p>
        </p:txBody>
      </p:sp>
      <p:sp>
        <p:nvSpPr>
          <p:cNvPr id="503" name="Google Shape;503;p13"/>
          <p:cNvSpPr txBox="1"/>
          <p:nvPr/>
        </p:nvSpPr>
        <p:spPr>
          <a:xfrm>
            <a:off x="7850253" y="6000017"/>
            <a:ext cx="2398271" cy="291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1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46" u="none" cap="none" strike="noStrike">
                <a:solidFill>
                  <a:srgbClr val="12229D"/>
                </a:solidFill>
                <a:latin typeface="Arial"/>
                <a:ea typeface="Arial"/>
                <a:cs typeface="Arial"/>
                <a:sym typeface="Arial"/>
              </a:rPr>
              <a:t>Parsing y Validación</a:t>
            </a:r>
            <a:endParaRPr/>
          </a:p>
        </p:txBody>
      </p:sp>
      <p:sp>
        <p:nvSpPr>
          <p:cNvPr id="504" name="Google Shape;504;p13"/>
          <p:cNvSpPr txBox="1"/>
          <p:nvPr/>
        </p:nvSpPr>
        <p:spPr>
          <a:xfrm>
            <a:off x="12860883" y="6000017"/>
            <a:ext cx="1944178" cy="291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1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46" u="none" cap="none" strike="noStrike">
                <a:solidFill>
                  <a:srgbClr val="12229D"/>
                </a:solidFill>
                <a:latin typeface="Arial"/>
                <a:ea typeface="Arial"/>
                <a:cs typeface="Arial"/>
                <a:sym typeface="Arial"/>
              </a:rPr>
              <a:t>Retorno a App</a:t>
            </a:r>
            <a:endParaRPr/>
          </a:p>
        </p:txBody>
      </p:sp>
      <p:sp>
        <p:nvSpPr>
          <p:cNvPr id="505" name="Google Shape;505;p13"/>
          <p:cNvSpPr txBox="1"/>
          <p:nvPr/>
        </p:nvSpPr>
        <p:spPr>
          <a:xfrm>
            <a:off x="2273952" y="7527636"/>
            <a:ext cx="4243508" cy="603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49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Servicio Consultas envía prompt estructurado para respuesta JSON.</a:t>
            </a:r>
            <a:endParaRPr/>
          </a:p>
        </p:txBody>
      </p:sp>
      <p:sp>
        <p:nvSpPr>
          <p:cNvPr id="506" name="Google Shape;506;p13"/>
          <p:cNvSpPr txBox="1"/>
          <p:nvPr/>
        </p:nvSpPr>
        <p:spPr>
          <a:xfrm>
            <a:off x="7022285" y="7527636"/>
            <a:ext cx="4243508" cy="603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49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Parsing y validación de respuesta para identificar principio activo.</a:t>
            </a:r>
            <a:endParaRPr/>
          </a:p>
        </p:txBody>
      </p:sp>
      <p:sp>
        <p:nvSpPr>
          <p:cNvPr id="507" name="Google Shape;507;p13"/>
          <p:cNvSpPr txBox="1"/>
          <p:nvPr/>
        </p:nvSpPr>
        <p:spPr>
          <a:xfrm>
            <a:off x="11698067" y="7527636"/>
            <a:ext cx="4243508" cy="603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49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Consulta de equivalentes bioequivalentes y retorno a la aplicación.</a:t>
            </a:r>
            <a:endParaRPr/>
          </a:p>
        </p:txBody>
      </p:sp>
      <p:sp>
        <p:nvSpPr>
          <p:cNvPr id="508" name="Google Shape;508;p13"/>
          <p:cNvSpPr/>
          <p:nvPr/>
        </p:nvSpPr>
        <p:spPr>
          <a:xfrm>
            <a:off x="12709200" y="4463598"/>
            <a:ext cx="2211894" cy="1381922"/>
          </a:xfrm>
          <a:custGeom>
            <a:rect b="b" l="l" r="r" t="t"/>
            <a:pathLst>
              <a:path extrusionOk="0" h="1381922" w="2211894">
                <a:moveTo>
                  <a:pt x="0" y="0"/>
                </a:moveTo>
                <a:lnTo>
                  <a:pt x="2211894" y="0"/>
                </a:lnTo>
                <a:lnTo>
                  <a:pt x="2211894" y="1381923"/>
                </a:lnTo>
                <a:lnTo>
                  <a:pt x="0" y="1381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9" name="Google Shape;509;p13"/>
          <p:cNvSpPr/>
          <p:nvPr/>
        </p:nvSpPr>
        <p:spPr>
          <a:xfrm>
            <a:off x="15722836" y="9258300"/>
            <a:ext cx="2565164" cy="932787"/>
          </a:xfrm>
          <a:custGeom>
            <a:rect b="b" l="l" r="r" t="t"/>
            <a:pathLst>
              <a:path extrusionOk="0" h="932787" w="2565164">
                <a:moveTo>
                  <a:pt x="0" y="0"/>
                </a:moveTo>
                <a:lnTo>
                  <a:pt x="2565164" y="0"/>
                </a:lnTo>
                <a:lnTo>
                  <a:pt x="2565164" y="932787"/>
                </a:lnTo>
                <a:lnTo>
                  <a:pt x="0" y="932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0" name="Google Shape;510;p13"/>
          <p:cNvSpPr txBox="1"/>
          <p:nvPr/>
        </p:nvSpPr>
        <p:spPr>
          <a:xfrm>
            <a:off x="1476035" y="579568"/>
            <a:ext cx="1661759" cy="382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FarmaCode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30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5"/>
          <p:cNvSpPr/>
          <p:nvPr/>
        </p:nvSpPr>
        <p:spPr>
          <a:xfrm>
            <a:off x="835402" y="664269"/>
            <a:ext cx="460249" cy="575311"/>
          </a:xfrm>
          <a:custGeom>
            <a:rect b="b" l="l" r="r" t="t"/>
            <a:pathLst>
              <a:path extrusionOk="0" h="575311" w="460249">
                <a:moveTo>
                  <a:pt x="0" y="0"/>
                </a:moveTo>
                <a:lnTo>
                  <a:pt x="460248" y="0"/>
                </a:lnTo>
                <a:lnTo>
                  <a:pt x="460248" y="575311"/>
                </a:lnTo>
                <a:lnTo>
                  <a:pt x="0" y="5753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516" name="Google Shape;516;p15"/>
          <p:cNvCxnSpPr/>
          <p:nvPr/>
        </p:nvCxnSpPr>
        <p:spPr>
          <a:xfrm>
            <a:off x="6835630" y="5531553"/>
            <a:ext cx="0" cy="2405008"/>
          </a:xfrm>
          <a:prstGeom prst="straightConnector1">
            <a:avLst/>
          </a:prstGeom>
          <a:noFill/>
          <a:ln cap="flat" cmpd="sng" w="38100">
            <a:solidFill>
              <a:srgbClr val="F4F6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p15"/>
          <p:cNvSpPr/>
          <p:nvPr/>
        </p:nvSpPr>
        <p:spPr>
          <a:xfrm>
            <a:off x="15722836" y="9258300"/>
            <a:ext cx="2565164" cy="932787"/>
          </a:xfrm>
          <a:custGeom>
            <a:rect b="b" l="l" r="r" t="t"/>
            <a:pathLst>
              <a:path extrusionOk="0" h="932787" w="2565164">
                <a:moveTo>
                  <a:pt x="0" y="0"/>
                </a:moveTo>
                <a:lnTo>
                  <a:pt x="2565164" y="0"/>
                </a:lnTo>
                <a:lnTo>
                  <a:pt x="2565164" y="932787"/>
                </a:lnTo>
                <a:lnTo>
                  <a:pt x="0" y="932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8" name="Google Shape;518;p15"/>
          <p:cNvSpPr/>
          <p:nvPr/>
        </p:nvSpPr>
        <p:spPr>
          <a:xfrm>
            <a:off x="8113485" y="794535"/>
            <a:ext cx="8710032" cy="8710032"/>
          </a:xfrm>
          <a:custGeom>
            <a:rect b="b" l="l" r="r" t="t"/>
            <a:pathLst>
              <a:path extrusionOk="0" h="8710032" w="8710032">
                <a:moveTo>
                  <a:pt x="0" y="0"/>
                </a:moveTo>
                <a:lnTo>
                  <a:pt x="8710032" y="0"/>
                </a:lnTo>
                <a:lnTo>
                  <a:pt x="8710032" y="8710032"/>
                </a:lnTo>
                <a:lnTo>
                  <a:pt x="0" y="8710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9" name="Google Shape;519;p15"/>
          <p:cNvSpPr txBox="1"/>
          <p:nvPr/>
        </p:nvSpPr>
        <p:spPr>
          <a:xfrm>
            <a:off x="1926659" y="2655175"/>
            <a:ext cx="10541843" cy="1972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¡Gracias!</a:t>
            </a:r>
            <a:endParaRPr/>
          </a:p>
        </p:txBody>
      </p:sp>
      <p:sp>
        <p:nvSpPr>
          <p:cNvPr id="520" name="Google Shape;520;p15"/>
          <p:cNvSpPr txBox="1"/>
          <p:nvPr/>
        </p:nvSpPr>
        <p:spPr>
          <a:xfrm>
            <a:off x="1730924" y="5048675"/>
            <a:ext cx="4776300" cy="44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7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FarmaCode representa una solución tecnológica integral que democratiza el acceso a información farmacéutica. Logros clave: alta disponibilidad, escalabilidad con Railway, seguridad HTTPS, precisión con Gemini API y usabilidad Material Design 3.</a:t>
            </a:r>
            <a:endParaRPr/>
          </a:p>
        </p:txBody>
      </p:sp>
      <p:sp>
        <p:nvSpPr>
          <p:cNvPr id="521" name="Google Shape;521;p15"/>
          <p:cNvSpPr txBox="1"/>
          <p:nvPr/>
        </p:nvSpPr>
        <p:spPr>
          <a:xfrm>
            <a:off x="1476035" y="579568"/>
            <a:ext cx="1661759" cy="382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8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FarmaCode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